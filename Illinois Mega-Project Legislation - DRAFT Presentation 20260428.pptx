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6"/>
  </p:notesMasterIdLst>
  <p:sldIdLst>
    <p:sldId id="256" r:id="rId2"/>
    <p:sldId id="257" r:id="rId3"/>
    <p:sldId id="258" r:id="rId4"/>
    <p:sldId id="261" r:id="rId5"/>
    <p:sldId id="262" r:id="rId6"/>
    <p:sldId id="263" r:id="rId7"/>
    <p:sldId id="264" r:id="rId8"/>
    <p:sldId id="265" r:id="rId9"/>
    <p:sldId id="266" r:id="rId10"/>
    <p:sldId id="267" r:id="rId11"/>
    <p:sldId id="268" r:id="rId12"/>
    <p:sldId id="270" r:id="rId13"/>
    <p:sldId id="271" r:id="rId14"/>
    <p:sldId id="272"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16C27D-E5F9-4485-9544-AB0423CFE6CA}" v="1" dt="2026-04-29T19:47:02.6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98" autoAdjust="0"/>
    <p:restoredTop sz="94660"/>
  </p:normalViewPr>
  <p:slideViewPr>
    <p:cSldViewPr snapToGrid="0">
      <p:cViewPr>
        <p:scale>
          <a:sx n="150" d="100"/>
          <a:sy n="150" d="100"/>
        </p:scale>
        <p:origin x="198" y="-9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9F7459-1CCA-4910-9AE9-4B4BA7638CF3}" type="datetimeFigureOut">
              <a:rPr lang="en-US" smtClean="0"/>
              <a:t>4/30/2026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92C852-CEE4-4473-8B1B-8BD651021EF5}" type="slidenum">
              <a:rPr lang="en-US" smtClean="0"/>
              <a:t>‹#›</a:t>
            </a:fld>
            <a:endParaRPr lang="en-US"/>
          </a:p>
        </p:txBody>
      </p:sp>
    </p:spTree>
    <p:extLst>
      <p:ext uri="{BB962C8B-B14F-4D97-AF65-F5344CB8AC3E}">
        <p14:creationId xmlns:p14="http://schemas.microsoft.com/office/powerpoint/2010/main" val="1337351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E937F-E8A1-B2DD-CFF9-D7CF8E1DB5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1D6D2-1D92-093A-4763-D4386F6DA9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F37D27-EE4C-0C8C-3BF8-E7A5EE0EA7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91C249-E812-B097-B4BF-F302C3D9B14C}"/>
              </a:ext>
            </a:extLst>
          </p:cNvPr>
          <p:cNvSpPr>
            <a:spLocks noGrp="1"/>
          </p:cNvSpPr>
          <p:nvPr>
            <p:ph type="sldNum" sz="quarter" idx="5"/>
          </p:nvPr>
        </p:nvSpPr>
        <p:spPr/>
        <p:txBody>
          <a:bodyPr/>
          <a:lstStyle/>
          <a:p>
            <a:fld id="{0492C852-CEE4-4473-8B1B-8BD651021EF5}" type="slidenum">
              <a:rPr lang="en-US" smtClean="0"/>
              <a:t>12</a:t>
            </a:fld>
            <a:endParaRPr lang="en-US"/>
          </a:p>
        </p:txBody>
      </p:sp>
    </p:spTree>
    <p:extLst>
      <p:ext uri="{BB962C8B-B14F-4D97-AF65-F5344CB8AC3E}">
        <p14:creationId xmlns:p14="http://schemas.microsoft.com/office/powerpoint/2010/main" val="708360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04C0E-A93C-5542-380C-A665E32A2F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BBFFB-CD55-C37F-84F9-02D8B7E004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781B6B-636B-2BC4-3C31-7198342361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4E95EC-7786-8885-0F01-83B25432D7BD}"/>
              </a:ext>
            </a:extLst>
          </p:cNvPr>
          <p:cNvSpPr>
            <a:spLocks noGrp="1"/>
          </p:cNvSpPr>
          <p:nvPr>
            <p:ph type="sldNum" sz="quarter" idx="5"/>
          </p:nvPr>
        </p:nvSpPr>
        <p:spPr/>
        <p:txBody>
          <a:bodyPr/>
          <a:lstStyle/>
          <a:p>
            <a:fld id="{0492C852-CEE4-4473-8B1B-8BD651021EF5}" type="slidenum">
              <a:rPr lang="en-US" smtClean="0"/>
              <a:t>13</a:t>
            </a:fld>
            <a:endParaRPr lang="en-US"/>
          </a:p>
        </p:txBody>
      </p:sp>
    </p:spTree>
    <p:extLst>
      <p:ext uri="{BB962C8B-B14F-4D97-AF65-F5344CB8AC3E}">
        <p14:creationId xmlns:p14="http://schemas.microsoft.com/office/powerpoint/2010/main" val="13192553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94FA8292-B070-494A-9778-2A950060A3AC}" type="datetimeFigureOut">
              <a:rPr lang="en-US" smtClean="0"/>
              <a:t>4/30/2026</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0BFD67A6-8803-4FA9-ADB3-F81A83E7DDA4}" type="slidenum">
              <a:rPr lang="en-US" smtClean="0"/>
              <a:t>‹#›</a:t>
            </a:fld>
            <a:endParaRPr lang="en-US"/>
          </a:p>
        </p:txBody>
      </p:sp>
    </p:spTree>
    <p:extLst>
      <p:ext uri="{BB962C8B-B14F-4D97-AF65-F5344CB8AC3E}">
        <p14:creationId xmlns:p14="http://schemas.microsoft.com/office/powerpoint/2010/main" val="2603355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FA8292-B070-494A-9778-2A950060A3AC}"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FD67A6-8803-4FA9-ADB3-F81A83E7DDA4}" type="slidenum">
              <a:rPr lang="en-US" smtClean="0"/>
              <a:t>‹#›</a:t>
            </a:fld>
            <a:endParaRPr lang="en-US"/>
          </a:p>
        </p:txBody>
      </p:sp>
    </p:spTree>
    <p:extLst>
      <p:ext uri="{BB962C8B-B14F-4D97-AF65-F5344CB8AC3E}">
        <p14:creationId xmlns:p14="http://schemas.microsoft.com/office/powerpoint/2010/main" val="3203154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94FA8292-B070-494A-9778-2A950060A3AC}" type="datetimeFigureOut">
              <a:rPr lang="en-US" smtClean="0"/>
              <a:t>4/30/2026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0BFD67A6-8803-4FA9-ADB3-F81A83E7DDA4}" type="slidenum">
              <a:rPr lang="en-US" smtClean="0"/>
              <a:t>‹#›</a:t>
            </a:fld>
            <a:endParaRPr lang="en-US"/>
          </a:p>
        </p:txBody>
      </p:sp>
    </p:spTree>
    <p:extLst>
      <p:ext uri="{BB962C8B-B14F-4D97-AF65-F5344CB8AC3E}">
        <p14:creationId xmlns:p14="http://schemas.microsoft.com/office/powerpoint/2010/main" val="1514768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4FA8292-B070-494A-9778-2A950060A3AC}"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FD67A6-8803-4FA9-ADB3-F81A83E7DDA4}" type="slidenum">
              <a:rPr lang="en-US" smtClean="0"/>
              <a:t>‹#›</a:t>
            </a:fld>
            <a:endParaRPr lang="en-US"/>
          </a:p>
        </p:txBody>
      </p:sp>
    </p:spTree>
    <p:extLst>
      <p:ext uri="{BB962C8B-B14F-4D97-AF65-F5344CB8AC3E}">
        <p14:creationId xmlns:p14="http://schemas.microsoft.com/office/powerpoint/2010/main" val="1074487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4FA8292-B070-494A-9778-2A950060A3AC}"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FD67A6-8803-4FA9-ADB3-F81A83E7DDA4}" type="slidenum">
              <a:rPr lang="en-US" smtClean="0"/>
              <a:t>‹#›</a:t>
            </a:fld>
            <a:endParaRPr lang="en-US"/>
          </a:p>
        </p:txBody>
      </p:sp>
    </p:spTree>
    <p:extLst>
      <p:ext uri="{BB962C8B-B14F-4D97-AF65-F5344CB8AC3E}">
        <p14:creationId xmlns:p14="http://schemas.microsoft.com/office/powerpoint/2010/main" val="3306410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4FA8292-B070-494A-9778-2A950060A3AC}"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FD67A6-8803-4FA9-ADB3-F81A83E7DDA4}" type="slidenum">
              <a:rPr lang="en-US" smtClean="0"/>
              <a:t>‹#›</a:t>
            </a:fld>
            <a:endParaRPr lang="en-US"/>
          </a:p>
        </p:txBody>
      </p:sp>
    </p:spTree>
    <p:extLst>
      <p:ext uri="{BB962C8B-B14F-4D97-AF65-F5344CB8AC3E}">
        <p14:creationId xmlns:p14="http://schemas.microsoft.com/office/powerpoint/2010/main" val="1848412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FA8292-B070-494A-9778-2A950060A3AC}"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FD67A6-8803-4FA9-ADB3-F81A83E7DDA4}" type="slidenum">
              <a:rPr lang="en-US" smtClean="0"/>
              <a:t>‹#›</a:t>
            </a:fld>
            <a:endParaRPr lang="en-US"/>
          </a:p>
        </p:txBody>
      </p:sp>
    </p:spTree>
    <p:extLst>
      <p:ext uri="{BB962C8B-B14F-4D97-AF65-F5344CB8AC3E}">
        <p14:creationId xmlns:p14="http://schemas.microsoft.com/office/powerpoint/2010/main" val="3149601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4FA8292-B070-494A-9778-2A950060A3AC}"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FD67A6-8803-4FA9-ADB3-F81A83E7DDA4}" type="slidenum">
              <a:rPr lang="en-US" smtClean="0"/>
              <a:t>‹#›</a:t>
            </a:fld>
            <a:endParaRPr lang="en-US"/>
          </a:p>
        </p:txBody>
      </p:sp>
    </p:spTree>
    <p:extLst>
      <p:ext uri="{BB962C8B-B14F-4D97-AF65-F5344CB8AC3E}">
        <p14:creationId xmlns:p14="http://schemas.microsoft.com/office/powerpoint/2010/main" val="1815821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4FA8292-B070-494A-9778-2A950060A3AC}"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FD67A6-8803-4FA9-ADB3-F81A83E7DDA4}" type="slidenum">
              <a:rPr lang="en-US" smtClean="0"/>
              <a:t>‹#›</a:t>
            </a:fld>
            <a:endParaRPr lang="en-US"/>
          </a:p>
        </p:txBody>
      </p:sp>
    </p:spTree>
    <p:extLst>
      <p:ext uri="{BB962C8B-B14F-4D97-AF65-F5344CB8AC3E}">
        <p14:creationId xmlns:p14="http://schemas.microsoft.com/office/powerpoint/2010/main" val="2888413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4FA8292-B070-494A-9778-2A950060A3AC}"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FD67A6-8803-4FA9-ADB3-F81A83E7DDA4}" type="slidenum">
              <a:rPr lang="en-US" smtClean="0"/>
              <a:t>‹#›</a:t>
            </a:fld>
            <a:endParaRPr lang="en-US"/>
          </a:p>
        </p:txBody>
      </p:sp>
    </p:spTree>
    <p:extLst>
      <p:ext uri="{BB962C8B-B14F-4D97-AF65-F5344CB8AC3E}">
        <p14:creationId xmlns:p14="http://schemas.microsoft.com/office/powerpoint/2010/main" val="4182486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94FA8292-B070-494A-9778-2A950060A3AC}" type="datetimeFigureOut">
              <a:rPr lang="en-US" smtClean="0"/>
              <a:t>4/30/2026</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0BFD67A6-8803-4FA9-ADB3-F81A83E7DDA4}" type="slidenum">
              <a:rPr lang="en-US" smtClean="0"/>
              <a:t>‹#›</a:t>
            </a:fld>
            <a:endParaRPr lang="en-US"/>
          </a:p>
        </p:txBody>
      </p:sp>
    </p:spTree>
    <p:extLst>
      <p:ext uri="{BB962C8B-B14F-4D97-AF65-F5344CB8AC3E}">
        <p14:creationId xmlns:p14="http://schemas.microsoft.com/office/powerpoint/2010/main" val="32189729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94FA8292-B070-494A-9778-2A950060A3AC}" type="datetimeFigureOut">
              <a:rPr lang="en-US" smtClean="0"/>
              <a:t>4/30/2026</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0BFD67A6-8803-4FA9-ADB3-F81A83E7DDA4}"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01819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94FA8292-B070-494A-9778-2A950060A3AC}" type="datetimeFigureOut">
              <a:rPr lang="en-US" smtClean="0"/>
              <a:t>4/30/2026</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0BFD67A6-8803-4FA9-ADB3-F81A83E7DDA4}" type="slidenum">
              <a:rPr lang="en-US" smtClean="0"/>
              <a:t>‹#›</a:t>
            </a:fld>
            <a:endParaRPr lang="en-US"/>
          </a:p>
        </p:txBody>
      </p:sp>
    </p:spTree>
    <p:extLst>
      <p:ext uri="{BB962C8B-B14F-4D97-AF65-F5344CB8AC3E}">
        <p14:creationId xmlns:p14="http://schemas.microsoft.com/office/powerpoint/2010/main" val="2980094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4FA8292-B070-494A-9778-2A950060A3AC}"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FD67A6-8803-4FA9-ADB3-F81A83E7DDA4}" type="slidenum">
              <a:rPr lang="en-US" smtClean="0"/>
              <a:t>‹#›</a:t>
            </a:fld>
            <a:endParaRPr lang="en-US"/>
          </a:p>
        </p:txBody>
      </p:sp>
    </p:spTree>
    <p:extLst>
      <p:ext uri="{BB962C8B-B14F-4D97-AF65-F5344CB8AC3E}">
        <p14:creationId xmlns:p14="http://schemas.microsoft.com/office/powerpoint/2010/main" val="2873751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4FA8292-B070-494A-9778-2A950060A3AC}"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FD67A6-8803-4FA9-ADB3-F81A83E7DDA4}" type="slidenum">
              <a:rPr lang="en-US" smtClean="0"/>
              <a:t>‹#›</a:t>
            </a:fld>
            <a:endParaRPr lang="en-US"/>
          </a:p>
        </p:txBody>
      </p:sp>
    </p:spTree>
    <p:extLst>
      <p:ext uri="{BB962C8B-B14F-4D97-AF65-F5344CB8AC3E}">
        <p14:creationId xmlns:p14="http://schemas.microsoft.com/office/powerpoint/2010/main" val="30072273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FA8292-B070-494A-9778-2A950060A3AC}"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FD67A6-8803-4FA9-ADB3-F81A83E7DDA4}" type="slidenum">
              <a:rPr lang="en-US" smtClean="0"/>
              <a:t>‹#›</a:t>
            </a:fld>
            <a:endParaRPr lang="en-US"/>
          </a:p>
        </p:txBody>
      </p:sp>
    </p:spTree>
    <p:extLst>
      <p:ext uri="{BB962C8B-B14F-4D97-AF65-F5344CB8AC3E}">
        <p14:creationId xmlns:p14="http://schemas.microsoft.com/office/powerpoint/2010/main" val="22612409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94FA8292-B070-494A-9778-2A950060A3AC}" type="datetimeFigureOut">
              <a:rPr lang="en-US" smtClean="0"/>
              <a:t>4/30/2026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0BFD67A6-8803-4FA9-ADB3-F81A83E7DDA4}" type="slidenum">
              <a:rPr lang="en-US" smtClean="0"/>
              <a:t>‹#›</a:t>
            </a:fld>
            <a:endParaRPr lang="en-US"/>
          </a:p>
        </p:txBody>
      </p:sp>
    </p:spTree>
    <p:extLst>
      <p:ext uri="{BB962C8B-B14F-4D97-AF65-F5344CB8AC3E}">
        <p14:creationId xmlns:p14="http://schemas.microsoft.com/office/powerpoint/2010/main" val="1119200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4FA8292-B070-494A-9778-2A950060A3AC}" type="datetimeFigureOut">
              <a:rPr lang="en-US" smtClean="0"/>
              <a:t>4/30/2026</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BFD67A6-8803-4FA9-ADB3-F81A83E7DDA4}" type="slidenum">
              <a:rPr lang="en-US" smtClean="0"/>
              <a:t>‹#›</a:t>
            </a:fld>
            <a:endParaRPr lang="en-US"/>
          </a:p>
        </p:txBody>
      </p:sp>
    </p:spTree>
    <p:extLst>
      <p:ext uri="{BB962C8B-B14F-4D97-AF65-F5344CB8AC3E}">
        <p14:creationId xmlns:p14="http://schemas.microsoft.com/office/powerpoint/2010/main" val="3219666716"/>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emf"/><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CD9ACDE-8038-488C-AB0C-5FD1A373C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7A4B16-94CC-15CE-52AD-2C56B8D118B0}"/>
              </a:ext>
            </a:extLst>
          </p:cNvPr>
          <p:cNvSpPr>
            <a:spLocks noGrp="1"/>
          </p:cNvSpPr>
          <p:nvPr>
            <p:ph type="ctrTitle"/>
          </p:nvPr>
        </p:nvSpPr>
        <p:spPr>
          <a:xfrm>
            <a:off x="2890837" y="965200"/>
            <a:ext cx="5529263" cy="3404680"/>
          </a:xfrm>
        </p:spPr>
        <p:txBody>
          <a:bodyPr>
            <a:normAutofit/>
          </a:bodyPr>
          <a:lstStyle/>
          <a:p>
            <a:r>
              <a:rPr lang="en-US" sz="5600"/>
              <a:t>Illinois Mega-Project Legislation</a:t>
            </a:r>
            <a:br>
              <a:rPr lang="en-US" sz="5600"/>
            </a:br>
            <a:endParaRPr lang="en-US" sz="5600"/>
          </a:p>
        </p:txBody>
      </p:sp>
      <p:sp>
        <p:nvSpPr>
          <p:cNvPr id="3" name="Subtitle 2">
            <a:extLst>
              <a:ext uri="{FF2B5EF4-FFF2-40B4-BE49-F238E27FC236}">
                <a16:creationId xmlns:a16="http://schemas.microsoft.com/office/drawing/2014/main" id="{B0B41D06-3A3A-EB2F-95ED-2A24A617216F}"/>
              </a:ext>
            </a:extLst>
          </p:cNvPr>
          <p:cNvSpPr>
            <a:spLocks noGrp="1"/>
          </p:cNvSpPr>
          <p:nvPr>
            <p:ph type="subTitle" idx="1"/>
          </p:nvPr>
        </p:nvSpPr>
        <p:spPr>
          <a:xfrm>
            <a:off x="2890837" y="4503906"/>
            <a:ext cx="5529263" cy="1388892"/>
          </a:xfrm>
        </p:spPr>
        <p:txBody>
          <a:bodyPr>
            <a:normAutofit/>
          </a:bodyPr>
          <a:lstStyle/>
          <a:p>
            <a:r>
              <a:rPr lang="en-US"/>
              <a:t>Presentation by:  </a:t>
            </a:r>
          </a:p>
          <a:p>
            <a:r>
              <a:rPr lang="en-US"/>
              <a:t>Stacy Davis Gates, IFT President</a:t>
            </a:r>
          </a:p>
        </p:txBody>
      </p:sp>
      <p:sp>
        <p:nvSpPr>
          <p:cNvPr id="19" name="Rectangle 18">
            <a:extLst>
              <a:ext uri="{FF2B5EF4-FFF2-40B4-BE49-F238E27FC236}">
                <a16:creationId xmlns:a16="http://schemas.microsoft.com/office/drawing/2014/main" id="{DA6C2449-5F66-4753-AAA3-4AD81E57A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554794"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21" name="Picture 20">
            <a:extLst>
              <a:ext uri="{FF2B5EF4-FFF2-40B4-BE49-F238E27FC236}">
                <a16:creationId xmlns:a16="http://schemas.microsoft.com/office/drawing/2014/main" id="{A57D80F0-E0CE-4DCF-A32A-DB7CE736472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531" r="43746" b="531"/>
          <a:stretch/>
        </p:blipFill>
        <p:spPr>
          <a:xfrm rot="5400000" flipH="1" flipV="1">
            <a:off x="-1805274" y="2497932"/>
            <a:ext cx="6857999" cy="1862138"/>
          </a:xfrm>
          <a:prstGeom prst="rect">
            <a:avLst/>
          </a:prstGeom>
        </p:spPr>
      </p:pic>
      <p:sp>
        <p:nvSpPr>
          <p:cNvPr id="4" name="TextBox 3">
            <a:extLst>
              <a:ext uri="{FF2B5EF4-FFF2-40B4-BE49-F238E27FC236}">
                <a16:creationId xmlns:a16="http://schemas.microsoft.com/office/drawing/2014/main" id="{615A9BC8-70F7-0F8F-9049-AB7AC4B199B5}"/>
              </a:ext>
            </a:extLst>
          </p:cNvPr>
          <p:cNvSpPr txBox="1"/>
          <p:nvPr/>
        </p:nvSpPr>
        <p:spPr>
          <a:xfrm>
            <a:off x="325402" y="360381"/>
            <a:ext cx="1862139" cy="461665"/>
          </a:xfrm>
          <a:prstGeom prst="rect">
            <a:avLst/>
          </a:prstGeom>
          <a:noFill/>
        </p:spPr>
        <p:txBody>
          <a:bodyPr wrap="square" rtlCol="0">
            <a:spAutoFit/>
          </a:bodyPr>
          <a:lstStyle/>
          <a:p>
            <a:r>
              <a:rPr lang="en-US" sz="2400" dirty="0">
                <a:solidFill>
                  <a:schemeClr val="bg1"/>
                </a:solidFill>
              </a:rPr>
              <a:t>DRAFT</a:t>
            </a:r>
          </a:p>
        </p:txBody>
      </p:sp>
    </p:spTree>
    <p:extLst>
      <p:ext uri="{BB962C8B-B14F-4D97-AF65-F5344CB8AC3E}">
        <p14:creationId xmlns:p14="http://schemas.microsoft.com/office/powerpoint/2010/main" val="1431225818"/>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26A3F16E-CC60-4737-8CBB-9568A351D3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0A4354-D9FD-AF49-74ED-4506EBD033B2}"/>
              </a:ext>
            </a:extLst>
          </p:cNvPr>
          <p:cNvSpPr>
            <a:spLocks noGrp="1"/>
          </p:cNvSpPr>
          <p:nvPr>
            <p:ph type="title"/>
          </p:nvPr>
        </p:nvSpPr>
        <p:spPr>
          <a:xfrm>
            <a:off x="3067880" y="764372"/>
            <a:ext cx="5575552" cy="1432289"/>
          </a:xfrm>
        </p:spPr>
        <p:txBody>
          <a:bodyPr>
            <a:normAutofit/>
          </a:bodyPr>
          <a:lstStyle/>
          <a:p>
            <a:pPr algn="l"/>
            <a:r>
              <a:rPr lang="en-US" dirty="0"/>
              <a:t>Table of Contents</a:t>
            </a:r>
          </a:p>
        </p:txBody>
      </p:sp>
      <p:sp>
        <p:nvSpPr>
          <p:cNvPr id="6" name="Rectangle 5">
            <a:extLst>
              <a:ext uri="{FF2B5EF4-FFF2-40B4-BE49-F238E27FC236}">
                <a16:creationId xmlns:a16="http://schemas.microsoft.com/office/drawing/2014/main" id="{C0DABE73-66EA-42B0-AB0A-9FB1C0AD7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554794"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7" name="Picture 6">
            <a:extLst>
              <a:ext uri="{FF2B5EF4-FFF2-40B4-BE49-F238E27FC236}">
                <a16:creationId xmlns:a16="http://schemas.microsoft.com/office/drawing/2014/main" id="{1E4917B9-5D95-4999-9E13-3568EDD4234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531" r="43746" b="531"/>
          <a:stretch/>
        </p:blipFill>
        <p:spPr>
          <a:xfrm rot="5400000" flipH="1" flipV="1">
            <a:off x="-1805274" y="2497932"/>
            <a:ext cx="6857999" cy="1862138"/>
          </a:xfrm>
          <a:prstGeom prst="rect">
            <a:avLst/>
          </a:prstGeom>
        </p:spPr>
      </p:pic>
      <p:sp>
        <p:nvSpPr>
          <p:cNvPr id="3" name="Content Placeholder 2">
            <a:extLst>
              <a:ext uri="{FF2B5EF4-FFF2-40B4-BE49-F238E27FC236}">
                <a16:creationId xmlns:a16="http://schemas.microsoft.com/office/drawing/2014/main" id="{82611280-5D18-3A74-A47C-A15B855CB3AD}"/>
              </a:ext>
            </a:extLst>
          </p:cNvPr>
          <p:cNvSpPr>
            <a:spLocks noGrp="1"/>
          </p:cNvSpPr>
          <p:nvPr>
            <p:ph idx="1"/>
          </p:nvPr>
        </p:nvSpPr>
        <p:spPr>
          <a:xfrm>
            <a:off x="2780852" y="2006301"/>
            <a:ext cx="6104964" cy="4437529"/>
          </a:xfrm>
        </p:spPr>
        <p:txBody>
          <a:bodyPr>
            <a:normAutofit/>
          </a:bodyPr>
          <a:lstStyle/>
          <a:p>
            <a:r>
              <a:rPr lang="en-US" sz="1600" dirty="0"/>
              <a:t>Purpose of the Mega-Projects Bill</a:t>
            </a:r>
          </a:p>
          <a:p>
            <a:r>
              <a:rPr lang="en-US" sz="1600" dirty="0"/>
              <a:t>Elements of the Bill and Incentive Agreement</a:t>
            </a:r>
          </a:p>
          <a:p>
            <a:r>
              <a:rPr lang="en-US" sz="1600" dirty="0"/>
              <a:t>Economic Development Overview:</a:t>
            </a:r>
          </a:p>
          <a:p>
            <a:pPr lvl="1"/>
            <a:r>
              <a:rPr lang="en-US" sz="1600" dirty="0"/>
              <a:t>Eligibility </a:t>
            </a:r>
          </a:p>
          <a:p>
            <a:pPr lvl="1"/>
            <a:r>
              <a:rPr lang="en-US" sz="1600" dirty="0"/>
              <a:t>Process</a:t>
            </a:r>
          </a:p>
          <a:p>
            <a:pPr lvl="1"/>
            <a:r>
              <a:rPr lang="en-US" sz="1600" dirty="0"/>
              <a:t>Bond Financing</a:t>
            </a:r>
          </a:p>
          <a:p>
            <a:r>
              <a:rPr lang="en-US" sz="1600" dirty="0"/>
              <a:t>Implications for Education Funding</a:t>
            </a:r>
          </a:p>
          <a:p>
            <a:r>
              <a:rPr lang="en-US" sz="1600" dirty="0"/>
              <a:t>Three (3) Scenarios: Rural, Suburban (i.e. Bears), Chicago</a:t>
            </a:r>
          </a:p>
          <a:p>
            <a:r>
              <a:rPr lang="en-US" sz="1600" dirty="0"/>
              <a:t>Pros: What is provided to support Educational Funding in Illinois?</a:t>
            </a:r>
          </a:p>
          <a:p>
            <a:r>
              <a:rPr lang="en-US" sz="1600" dirty="0"/>
              <a:t>Cons:  What is being taken from Educational Funding in Illinois?</a:t>
            </a:r>
          </a:p>
          <a:p>
            <a:r>
              <a:rPr lang="en-US" sz="1600" dirty="0"/>
              <a:t>Next Steps: Recommendations for changes to the amendment to HB 910</a:t>
            </a:r>
          </a:p>
          <a:p>
            <a:pPr marL="0" indent="0">
              <a:buNone/>
            </a:pPr>
            <a:endParaRPr lang="en-US" sz="1300" dirty="0"/>
          </a:p>
        </p:txBody>
      </p:sp>
      <p:sp>
        <p:nvSpPr>
          <p:cNvPr id="4" name="TextBox 3">
            <a:extLst>
              <a:ext uri="{FF2B5EF4-FFF2-40B4-BE49-F238E27FC236}">
                <a16:creationId xmlns:a16="http://schemas.microsoft.com/office/drawing/2014/main" id="{545F14CA-0D9C-AE97-A72D-988F3728C907}"/>
              </a:ext>
            </a:extLst>
          </p:cNvPr>
          <p:cNvSpPr txBox="1"/>
          <p:nvPr/>
        </p:nvSpPr>
        <p:spPr>
          <a:xfrm>
            <a:off x="325402" y="360381"/>
            <a:ext cx="1862139" cy="461665"/>
          </a:xfrm>
          <a:prstGeom prst="rect">
            <a:avLst/>
          </a:prstGeom>
          <a:noFill/>
        </p:spPr>
        <p:txBody>
          <a:bodyPr wrap="square" rtlCol="0">
            <a:spAutoFit/>
          </a:bodyPr>
          <a:lstStyle/>
          <a:p>
            <a:r>
              <a:rPr lang="en-US" sz="2400" dirty="0">
                <a:solidFill>
                  <a:schemeClr val="bg1"/>
                </a:solidFill>
              </a:rPr>
              <a:t>DRAFT</a:t>
            </a:r>
          </a:p>
        </p:txBody>
      </p:sp>
    </p:spTree>
    <p:extLst>
      <p:ext uri="{BB962C8B-B14F-4D97-AF65-F5344CB8AC3E}">
        <p14:creationId xmlns:p14="http://schemas.microsoft.com/office/powerpoint/2010/main" val="197072443"/>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a:extLst>
            <a:ext uri="{FF2B5EF4-FFF2-40B4-BE49-F238E27FC236}">
              <a16:creationId xmlns:a16="http://schemas.microsoft.com/office/drawing/2014/main" id="{AF0F1274-B4AA-4100-EF9E-28B61D13450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6A3F16E-CC60-4737-8CBB-9568A351D3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7BEC5A-5025-56E8-E327-FE561ADC15CD}"/>
              </a:ext>
            </a:extLst>
          </p:cNvPr>
          <p:cNvSpPr>
            <a:spLocks noGrp="1"/>
          </p:cNvSpPr>
          <p:nvPr>
            <p:ph type="title"/>
          </p:nvPr>
        </p:nvSpPr>
        <p:spPr>
          <a:xfrm>
            <a:off x="3067880" y="764372"/>
            <a:ext cx="5575552" cy="1432289"/>
          </a:xfrm>
        </p:spPr>
        <p:txBody>
          <a:bodyPr>
            <a:normAutofit/>
          </a:bodyPr>
          <a:lstStyle/>
          <a:p>
            <a:pPr algn="l"/>
            <a:r>
              <a:rPr lang="en-US" dirty="0"/>
              <a:t>Purpose of the Mega-Projects Bill</a:t>
            </a:r>
          </a:p>
        </p:txBody>
      </p:sp>
      <p:sp>
        <p:nvSpPr>
          <p:cNvPr id="10" name="Rectangle 9">
            <a:extLst>
              <a:ext uri="{FF2B5EF4-FFF2-40B4-BE49-F238E27FC236}">
                <a16:creationId xmlns:a16="http://schemas.microsoft.com/office/drawing/2014/main" id="{C0DABE73-66EA-42B0-AB0A-9FB1C0AD7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554794"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2" name="Picture 11">
            <a:extLst>
              <a:ext uri="{FF2B5EF4-FFF2-40B4-BE49-F238E27FC236}">
                <a16:creationId xmlns:a16="http://schemas.microsoft.com/office/drawing/2014/main" id="{1E4917B9-5D95-4999-9E13-3568EDD4234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531" r="43746" b="531"/>
          <a:stretch/>
        </p:blipFill>
        <p:spPr>
          <a:xfrm rot="5400000" flipH="1" flipV="1">
            <a:off x="-1805274" y="2497932"/>
            <a:ext cx="6857999" cy="1862138"/>
          </a:xfrm>
          <a:prstGeom prst="rect">
            <a:avLst/>
          </a:prstGeom>
        </p:spPr>
      </p:pic>
      <p:sp>
        <p:nvSpPr>
          <p:cNvPr id="3" name="Content Placeholder 2">
            <a:extLst>
              <a:ext uri="{FF2B5EF4-FFF2-40B4-BE49-F238E27FC236}">
                <a16:creationId xmlns:a16="http://schemas.microsoft.com/office/drawing/2014/main" id="{92AD993F-B5A4-6279-DA4E-535CEEB2E187}"/>
              </a:ext>
            </a:extLst>
          </p:cNvPr>
          <p:cNvSpPr>
            <a:spLocks noGrp="1"/>
          </p:cNvSpPr>
          <p:nvPr>
            <p:ph idx="1"/>
          </p:nvPr>
        </p:nvSpPr>
        <p:spPr>
          <a:xfrm>
            <a:off x="2915322" y="2196662"/>
            <a:ext cx="6045798" cy="4451564"/>
          </a:xfrm>
        </p:spPr>
        <p:txBody>
          <a:bodyPr>
            <a:normAutofit/>
          </a:bodyPr>
          <a:lstStyle/>
          <a:p>
            <a:pPr marL="0" indent="0">
              <a:buNone/>
            </a:pPr>
            <a:r>
              <a:rPr lang="en-US" sz="2000" dirty="0"/>
              <a:t>To provide incentives and financing to support major economic development proposal in Illinois such as:</a:t>
            </a:r>
          </a:p>
          <a:p>
            <a:pPr marL="0" indent="0">
              <a:buNone/>
            </a:pPr>
            <a:endParaRPr lang="en-US" sz="2000" dirty="0"/>
          </a:p>
          <a:p>
            <a:r>
              <a:rPr lang="en-US" sz="2000" dirty="0"/>
              <a:t>Chicago Bears Stadium ($2 to $3 billion)*</a:t>
            </a:r>
          </a:p>
          <a:p>
            <a:r>
              <a:rPr lang="en-US" sz="2000" dirty="0"/>
              <a:t>Chicago Fire Stadium ($650 million)*</a:t>
            </a:r>
          </a:p>
          <a:p>
            <a:r>
              <a:rPr lang="en-US" sz="2000" dirty="0"/>
              <a:t>Chicago White Sox Stadium ($9 billion)</a:t>
            </a:r>
          </a:p>
          <a:p>
            <a:r>
              <a:rPr lang="en-US" sz="2000" dirty="0"/>
              <a:t>Re-positioning of Soldier Field ($630 million)</a:t>
            </a:r>
          </a:p>
          <a:p>
            <a:r>
              <a:rPr lang="en-US" sz="2000" dirty="0"/>
              <a:t>Other Large Scale Multi-Use Economic Development Projects throughout Illinois</a:t>
            </a:r>
          </a:p>
          <a:p>
            <a:pPr marL="0" indent="0">
              <a:buNone/>
            </a:pPr>
            <a:endParaRPr lang="en-US" sz="1700" dirty="0"/>
          </a:p>
          <a:p>
            <a:pPr marL="0" indent="0">
              <a:buNone/>
            </a:pPr>
            <a:r>
              <a:rPr lang="en-US" sz="1400" dirty="0"/>
              <a:t>(*) Excludes Infrastructure Costs</a:t>
            </a:r>
          </a:p>
        </p:txBody>
      </p:sp>
      <p:sp>
        <p:nvSpPr>
          <p:cNvPr id="4" name="TextBox 3">
            <a:extLst>
              <a:ext uri="{FF2B5EF4-FFF2-40B4-BE49-F238E27FC236}">
                <a16:creationId xmlns:a16="http://schemas.microsoft.com/office/drawing/2014/main" id="{C72A140B-7AC8-ED62-C022-E912598725DD}"/>
              </a:ext>
            </a:extLst>
          </p:cNvPr>
          <p:cNvSpPr txBox="1"/>
          <p:nvPr/>
        </p:nvSpPr>
        <p:spPr>
          <a:xfrm>
            <a:off x="325402" y="360381"/>
            <a:ext cx="1862139" cy="461665"/>
          </a:xfrm>
          <a:prstGeom prst="rect">
            <a:avLst/>
          </a:prstGeom>
          <a:noFill/>
        </p:spPr>
        <p:txBody>
          <a:bodyPr wrap="square" rtlCol="0">
            <a:spAutoFit/>
          </a:bodyPr>
          <a:lstStyle/>
          <a:p>
            <a:r>
              <a:rPr lang="en-US" sz="2400" dirty="0">
                <a:solidFill>
                  <a:schemeClr val="bg1"/>
                </a:solidFill>
              </a:rPr>
              <a:t>DRAFT</a:t>
            </a:r>
          </a:p>
        </p:txBody>
      </p:sp>
    </p:spTree>
    <p:extLst>
      <p:ext uri="{BB962C8B-B14F-4D97-AF65-F5344CB8AC3E}">
        <p14:creationId xmlns:p14="http://schemas.microsoft.com/office/powerpoint/2010/main" val="2043226375"/>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a:extLst>
            <a:ext uri="{FF2B5EF4-FFF2-40B4-BE49-F238E27FC236}">
              <a16:creationId xmlns:a16="http://schemas.microsoft.com/office/drawing/2014/main" id="{6E2469E6-3E6B-F396-8776-C1D549E4971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6A3F16E-CC60-4737-8CBB-9568A351D3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1CA251-979F-AED1-4715-9603ADF00963}"/>
              </a:ext>
            </a:extLst>
          </p:cNvPr>
          <p:cNvSpPr>
            <a:spLocks noGrp="1"/>
          </p:cNvSpPr>
          <p:nvPr>
            <p:ph type="title"/>
          </p:nvPr>
        </p:nvSpPr>
        <p:spPr>
          <a:xfrm>
            <a:off x="3067880" y="764372"/>
            <a:ext cx="5575552" cy="1432289"/>
          </a:xfrm>
        </p:spPr>
        <p:txBody>
          <a:bodyPr>
            <a:normAutofit/>
          </a:bodyPr>
          <a:lstStyle/>
          <a:p>
            <a:pPr algn="l"/>
            <a:r>
              <a:rPr lang="en-US" dirty="0"/>
              <a:t>Elements of Mega-Project</a:t>
            </a:r>
          </a:p>
        </p:txBody>
      </p:sp>
      <p:sp>
        <p:nvSpPr>
          <p:cNvPr id="10" name="Rectangle 9">
            <a:extLst>
              <a:ext uri="{FF2B5EF4-FFF2-40B4-BE49-F238E27FC236}">
                <a16:creationId xmlns:a16="http://schemas.microsoft.com/office/drawing/2014/main" id="{C0DABE73-66EA-42B0-AB0A-9FB1C0AD7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554794"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2" name="Picture 11">
            <a:extLst>
              <a:ext uri="{FF2B5EF4-FFF2-40B4-BE49-F238E27FC236}">
                <a16:creationId xmlns:a16="http://schemas.microsoft.com/office/drawing/2014/main" id="{1E4917B9-5D95-4999-9E13-3568EDD4234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531" r="43746" b="531"/>
          <a:stretch/>
        </p:blipFill>
        <p:spPr>
          <a:xfrm rot="5400000" flipH="1" flipV="1">
            <a:off x="-1805274" y="2497932"/>
            <a:ext cx="6857999" cy="1862138"/>
          </a:xfrm>
          <a:prstGeom prst="rect">
            <a:avLst/>
          </a:prstGeom>
        </p:spPr>
      </p:pic>
      <p:sp>
        <p:nvSpPr>
          <p:cNvPr id="3" name="Content Placeholder 2">
            <a:extLst>
              <a:ext uri="{FF2B5EF4-FFF2-40B4-BE49-F238E27FC236}">
                <a16:creationId xmlns:a16="http://schemas.microsoft.com/office/drawing/2014/main" id="{D50B3AE1-8C63-9008-5F56-D92D85234DCB}"/>
              </a:ext>
            </a:extLst>
          </p:cNvPr>
          <p:cNvSpPr>
            <a:spLocks noGrp="1"/>
          </p:cNvSpPr>
          <p:nvPr>
            <p:ph idx="1"/>
          </p:nvPr>
        </p:nvSpPr>
        <p:spPr>
          <a:xfrm>
            <a:off x="2856155" y="2196662"/>
            <a:ext cx="5986631" cy="4440806"/>
          </a:xfrm>
        </p:spPr>
        <p:txBody>
          <a:bodyPr>
            <a:normAutofit/>
          </a:bodyPr>
          <a:lstStyle/>
          <a:p>
            <a:r>
              <a:rPr lang="en-US" sz="1600" dirty="0"/>
              <a:t>Creation of STAR Bond Districts</a:t>
            </a:r>
          </a:p>
          <a:p>
            <a:pPr lvl="1"/>
            <a:r>
              <a:rPr lang="en-US" sz="1600" dirty="0"/>
              <a:t>Sales Tax and Revenue (STAR) Bond Districts</a:t>
            </a:r>
          </a:p>
          <a:p>
            <a:pPr lvl="1"/>
            <a:r>
              <a:rPr lang="en-US" sz="1600" dirty="0"/>
              <a:t>New Opportunities for Vacation and Adventure (NOVA) Districts</a:t>
            </a:r>
          </a:p>
          <a:p>
            <a:pPr lvl="1"/>
            <a:r>
              <a:rPr lang="en-US" sz="1600" dirty="0"/>
              <a:t>NOVA Urban Districts</a:t>
            </a:r>
          </a:p>
          <a:p>
            <a:r>
              <a:rPr lang="en-US" sz="1600" dirty="0"/>
              <a:t>Financing - STAR Bonds </a:t>
            </a:r>
          </a:p>
          <a:p>
            <a:r>
              <a:rPr lang="en-US" sz="1600" dirty="0"/>
              <a:t>Review Board</a:t>
            </a:r>
          </a:p>
          <a:p>
            <a:pPr lvl="1"/>
            <a:r>
              <a:rPr lang="en-US" sz="1600" dirty="0"/>
              <a:t>Includes Representatives from each Taxing District</a:t>
            </a:r>
          </a:p>
          <a:p>
            <a:pPr lvl="1"/>
            <a:r>
              <a:rPr lang="en-US" sz="1600" dirty="0"/>
              <a:t>Voting is on a Weighted Basis - District levy as a percentage of all levies on project site property</a:t>
            </a:r>
          </a:p>
          <a:p>
            <a:r>
              <a:rPr lang="en-US" sz="1600" dirty="0"/>
              <a:t>Incentive Agreement – Between Master Developer and Municipality</a:t>
            </a:r>
          </a:p>
          <a:p>
            <a:r>
              <a:rPr lang="en-US" sz="1600" dirty="0"/>
              <a:t>Property Tax Freeze (at pre-development level)</a:t>
            </a:r>
          </a:p>
          <a:p>
            <a:r>
              <a:rPr lang="en-US" sz="1600" dirty="0"/>
              <a:t>Special Payment (negotiated – at least 10% of pre-development property tax liability)</a:t>
            </a:r>
          </a:p>
          <a:p>
            <a:pPr marL="0" indent="0">
              <a:buNone/>
            </a:pPr>
            <a:endParaRPr lang="en-US" sz="1200" dirty="0"/>
          </a:p>
        </p:txBody>
      </p:sp>
      <p:sp>
        <p:nvSpPr>
          <p:cNvPr id="4" name="TextBox 3">
            <a:extLst>
              <a:ext uri="{FF2B5EF4-FFF2-40B4-BE49-F238E27FC236}">
                <a16:creationId xmlns:a16="http://schemas.microsoft.com/office/drawing/2014/main" id="{5FD35B9A-30F9-F780-4ADE-DE85157EF9C9}"/>
              </a:ext>
            </a:extLst>
          </p:cNvPr>
          <p:cNvSpPr txBox="1"/>
          <p:nvPr/>
        </p:nvSpPr>
        <p:spPr>
          <a:xfrm>
            <a:off x="325402" y="360381"/>
            <a:ext cx="1862139" cy="461665"/>
          </a:xfrm>
          <a:prstGeom prst="rect">
            <a:avLst/>
          </a:prstGeom>
          <a:noFill/>
        </p:spPr>
        <p:txBody>
          <a:bodyPr wrap="square" rtlCol="0">
            <a:spAutoFit/>
          </a:bodyPr>
          <a:lstStyle/>
          <a:p>
            <a:r>
              <a:rPr lang="en-US" sz="2400" dirty="0">
                <a:solidFill>
                  <a:schemeClr val="bg1"/>
                </a:solidFill>
              </a:rPr>
              <a:t>DRAFT</a:t>
            </a:r>
          </a:p>
        </p:txBody>
      </p:sp>
    </p:spTree>
    <p:extLst>
      <p:ext uri="{BB962C8B-B14F-4D97-AF65-F5344CB8AC3E}">
        <p14:creationId xmlns:p14="http://schemas.microsoft.com/office/powerpoint/2010/main" val="3595729714"/>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a:extLst>
            <a:ext uri="{FF2B5EF4-FFF2-40B4-BE49-F238E27FC236}">
              <a16:creationId xmlns:a16="http://schemas.microsoft.com/office/drawing/2014/main" id="{3B73CF4A-E32E-4A20-4CB1-CBD8C5BBB9F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056D105-68FE-C958-C732-C2FF7EF292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4168B1-EB63-8A15-718A-9DBA31CE3F1F}"/>
              </a:ext>
            </a:extLst>
          </p:cNvPr>
          <p:cNvSpPr>
            <a:spLocks noGrp="1"/>
          </p:cNvSpPr>
          <p:nvPr>
            <p:ph type="title"/>
          </p:nvPr>
        </p:nvSpPr>
        <p:spPr>
          <a:xfrm>
            <a:off x="3067880" y="764372"/>
            <a:ext cx="5575552" cy="1432289"/>
          </a:xfrm>
        </p:spPr>
        <p:txBody>
          <a:bodyPr>
            <a:normAutofit fontScale="90000"/>
          </a:bodyPr>
          <a:lstStyle/>
          <a:p>
            <a:pPr algn="l"/>
            <a:r>
              <a:rPr lang="en-US" dirty="0"/>
              <a:t>Elements of Incentive Agreement</a:t>
            </a:r>
          </a:p>
        </p:txBody>
      </p:sp>
      <p:sp>
        <p:nvSpPr>
          <p:cNvPr id="10" name="Rectangle 9">
            <a:extLst>
              <a:ext uri="{FF2B5EF4-FFF2-40B4-BE49-F238E27FC236}">
                <a16:creationId xmlns:a16="http://schemas.microsoft.com/office/drawing/2014/main" id="{75DC0050-0AD5-E80C-CCFB-3C67DEBD4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554794"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2" name="Picture 11">
            <a:extLst>
              <a:ext uri="{FF2B5EF4-FFF2-40B4-BE49-F238E27FC236}">
                <a16:creationId xmlns:a16="http://schemas.microsoft.com/office/drawing/2014/main" id="{83494892-3DBE-76E6-350D-EF96BEA4BE0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531" r="43746" b="531"/>
          <a:stretch/>
        </p:blipFill>
        <p:spPr>
          <a:xfrm rot="5400000" flipH="1" flipV="1">
            <a:off x="-1805274" y="2497932"/>
            <a:ext cx="6857999" cy="1862138"/>
          </a:xfrm>
          <a:prstGeom prst="rect">
            <a:avLst/>
          </a:prstGeom>
        </p:spPr>
      </p:pic>
      <p:sp>
        <p:nvSpPr>
          <p:cNvPr id="3" name="Content Placeholder 2">
            <a:extLst>
              <a:ext uri="{FF2B5EF4-FFF2-40B4-BE49-F238E27FC236}">
                <a16:creationId xmlns:a16="http://schemas.microsoft.com/office/drawing/2014/main" id="{44C62D06-7ED0-7D57-0A6F-34F936AD4D60}"/>
              </a:ext>
            </a:extLst>
          </p:cNvPr>
          <p:cNvSpPr>
            <a:spLocks noGrp="1"/>
          </p:cNvSpPr>
          <p:nvPr>
            <p:ph idx="1"/>
          </p:nvPr>
        </p:nvSpPr>
        <p:spPr>
          <a:xfrm>
            <a:off x="2931384" y="2196661"/>
            <a:ext cx="5986631" cy="4440806"/>
          </a:xfrm>
        </p:spPr>
        <p:txBody>
          <a:bodyPr>
            <a:normAutofit fontScale="92500" lnSpcReduction="10000"/>
          </a:bodyPr>
          <a:lstStyle/>
          <a:p>
            <a:r>
              <a:rPr lang="en-US" sz="2400" dirty="0"/>
              <a:t>Base Year</a:t>
            </a:r>
          </a:p>
          <a:p>
            <a:r>
              <a:rPr lang="en-US" sz="2400" dirty="0"/>
              <a:t>Base Year Valuation</a:t>
            </a:r>
          </a:p>
          <a:p>
            <a:r>
              <a:rPr lang="en-US" sz="2400" dirty="0"/>
              <a:t>Amount of Special Payment – Must be at least 10% of Property Tax Levy against Megaproject site in year immediately preceding the base year.</a:t>
            </a:r>
          </a:p>
          <a:p>
            <a:r>
              <a:rPr lang="en-US" sz="2400" dirty="0"/>
              <a:t>Manner in which “sufficient revenue” will be generated to meet “extraordinary capital needs” of the local school districts</a:t>
            </a:r>
          </a:p>
          <a:p>
            <a:r>
              <a:rPr lang="en-US" sz="2400" dirty="0"/>
              <a:t>Needs – Needs of new students who (</a:t>
            </a:r>
            <a:r>
              <a:rPr lang="en-US" sz="2400" dirty="0" err="1"/>
              <a:t>i</a:t>
            </a:r>
            <a:r>
              <a:rPr lang="en-US" sz="2400" dirty="0"/>
              <a:t>) reside in housing units constructed as part of a master development plan and </a:t>
            </a:r>
          </a:p>
        </p:txBody>
      </p:sp>
      <p:sp>
        <p:nvSpPr>
          <p:cNvPr id="4" name="TextBox 3">
            <a:extLst>
              <a:ext uri="{FF2B5EF4-FFF2-40B4-BE49-F238E27FC236}">
                <a16:creationId xmlns:a16="http://schemas.microsoft.com/office/drawing/2014/main" id="{CEEB4466-52EC-E87E-9BF8-05D26B726263}"/>
              </a:ext>
            </a:extLst>
          </p:cNvPr>
          <p:cNvSpPr txBox="1"/>
          <p:nvPr/>
        </p:nvSpPr>
        <p:spPr>
          <a:xfrm>
            <a:off x="325402" y="360381"/>
            <a:ext cx="1862139" cy="461665"/>
          </a:xfrm>
          <a:prstGeom prst="rect">
            <a:avLst/>
          </a:prstGeom>
          <a:noFill/>
        </p:spPr>
        <p:txBody>
          <a:bodyPr wrap="square" rtlCol="0">
            <a:spAutoFit/>
          </a:bodyPr>
          <a:lstStyle/>
          <a:p>
            <a:r>
              <a:rPr lang="en-US" sz="2400" dirty="0">
                <a:solidFill>
                  <a:schemeClr val="bg1"/>
                </a:solidFill>
              </a:rPr>
              <a:t>DRAFT</a:t>
            </a:r>
          </a:p>
        </p:txBody>
      </p:sp>
    </p:spTree>
    <p:extLst>
      <p:ext uri="{BB962C8B-B14F-4D97-AF65-F5344CB8AC3E}">
        <p14:creationId xmlns:p14="http://schemas.microsoft.com/office/powerpoint/2010/main" val="1267676210"/>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a:extLst>
            <a:ext uri="{FF2B5EF4-FFF2-40B4-BE49-F238E27FC236}">
              <a16:creationId xmlns:a16="http://schemas.microsoft.com/office/drawing/2014/main" id="{1243B847-E16F-6754-5773-250085BD92A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BA67110-2406-7696-CCDA-E23B5BE46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3710C9-844A-8B31-C7A6-F2986A298D0D}"/>
              </a:ext>
            </a:extLst>
          </p:cNvPr>
          <p:cNvSpPr>
            <a:spLocks noGrp="1"/>
          </p:cNvSpPr>
          <p:nvPr>
            <p:ph type="title"/>
          </p:nvPr>
        </p:nvSpPr>
        <p:spPr>
          <a:xfrm>
            <a:off x="3067880" y="764372"/>
            <a:ext cx="5575552" cy="1432289"/>
          </a:xfrm>
        </p:spPr>
        <p:txBody>
          <a:bodyPr>
            <a:normAutofit fontScale="90000"/>
          </a:bodyPr>
          <a:lstStyle/>
          <a:p>
            <a:pPr algn="l"/>
            <a:r>
              <a:rPr lang="en-US" dirty="0"/>
              <a:t>Elements of Incentive Agreement (continued)</a:t>
            </a:r>
          </a:p>
        </p:txBody>
      </p:sp>
      <p:sp>
        <p:nvSpPr>
          <p:cNvPr id="10" name="Rectangle 9">
            <a:extLst>
              <a:ext uri="{FF2B5EF4-FFF2-40B4-BE49-F238E27FC236}">
                <a16:creationId xmlns:a16="http://schemas.microsoft.com/office/drawing/2014/main" id="{3FA09982-A5FE-E4A8-8DAB-293C01D87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554794"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2" name="Picture 11">
            <a:extLst>
              <a:ext uri="{FF2B5EF4-FFF2-40B4-BE49-F238E27FC236}">
                <a16:creationId xmlns:a16="http://schemas.microsoft.com/office/drawing/2014/main" id="{596B8F45-BFED-3CC4-5E39-31770C433E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531" r="43746" b="531"/>
          <a:stretch/>
        </p:blipFill>
        <p:spPr>
          <a:xfrm rot="5400000" flipH="1" flipV="1">
            <a:off x="-1805274" y="2497932"/>
            <a:ext cx="6857999" cy="1862138"/>
          </a:xfrm>
          <a:prstGeom prst="rect">
            <a:avLst/>
          </a:prstGeom>
        </p:spPr>
      </p:pic>
      <p:sp>
        <p:nvSpPr>
          <p:cNvPr id="3" name="Content Placeholder 2">
            <a:extLst>
              <a:ext uri="{FF2B5EF4-FFF2-40B4-BE49-F238E27FC236}">
                <a16:creationId xmlns:a16="http://schemas.microsoft.com/office/drawing/2014/main" id="{A4E8668E-938B-F9EE-7622-BF4895DA596C}"/>
              </a:ext>
            </a:extLst>
          </p:cNvPr>
          <p:cNvSpPr>
            <a:spLocks noGrp="1"/>
          </p:cNvSpPr>
          <p:nvPr>
            <p:ph idx="1"/>
          </p:nvPr>
        </p:nvSpPr>
        <p:spPr>
          <a:xfrm>
            <a:off x="2856082" y="2329030"/>
            <a:ext cx="5680112" cy="4034117"/>
          </a:xfrm>
        </p:spPr>
        <p:txBody>
          <a:bodyPr>
            <a:normAutofit/>
          </a:bodyPr>
          <a:lstStyle/>
          <a:p>
            <a:r>
              <a:rPr lang="en-US" sz="1800" dirty="0"/>
              <a:t>(ii) are anticipated to attend a school under the jurisdiction of a local school district</a:t>
            </a:r>
          </a:p>
          <a:p>
            <a:r>
              <a:rPr lang="en-US" sz="1800" dirty="0"/>
              <a:t>Adjustment of the special payment in accordance with the percentage change in the CPI</a:t>
            </a:r>
          </a:p>
          <a:p>
            <a:r>
              <a:rPr lang="en-US" sz="1800" dirty="0"/>
              <a:t>Local School Districts may not receive less than the base-year school revenue amount, adjusted annually by the percentage change in CPI.</a:t>
            </a:r>
          </a:p>
          <a:p>
            <a:r>
              <a:rPr lang="en-US" sz="1800" dirty="0"/>
              <a:t>Local Review Board Members are entrusted to keep in mind the best interest of the entire affected community area of the project for the short and long term.</a:t>
            </a:r>
          </a:p>
          <a:p>
            <a:pPr marL="0" indent="0">
              <a:buNone/>
            </a:pPr>
            <a:endParaRPr lang="en-US" sz="1800" dirty="0"/>
          </a:p>
          <a:p>
            <a:pPr marL="0" indent="0">
              <a:buNone/>
            </a:pPr>
            <a:endParaRPr lang="en-US" sz="1800" dirty="0"/>
          </a:p>
        </p:txBody>
      </p:sp>
      <p:sp>
        <p:nvSpPr>
          <p:cNvPr id="4" name="TextBox 3">
            <a:extLst>
              <a:ext uri="{FF2B5EF4-FFF2-40B4-BE49-F238E27FC236}">
                <a16:creationId xmlns:a16="http://schemas.microsoft.com/office/drawing/2014/main" id="{A5ADAC48-017F-21A2-6FC9-937811FAAFD1}"/>
              </a:ext>
            </a:extLst>
          </p:cNvPr>
          <p:cNvSpPr txBox="1"/>
          <p:nvPr/>
        </p:nvSpPr>
        <p:spPr>
          <a:xfrm>
            <a:off x="325402" y="360381"/>
            <a:ext cx="1862139" cy="461665"/>
          </a:xfrm>
          <a:prstGeom prst="rect">
            <a:avLst/>
          </a:prstGeom>
          <a:noFill/>
        </p:spPr>
        <p:txBody>
          <a:bodyPr wrap="square" rtlCol="0">
            <a:spAutoFit/>
          </a:bodyPr>
          <a:lstStyle/>
          <a:p>
            <a:r>
              <a:rPr lang="en-US" sz="2400" dirty="0">
                <a:solidFill>
                  <a:schemeClr val="bg1"/>
                </a:solidFill>
              </a:rPr>
              <a:t>DRAFT</a:t>
            </a:r>
          </a:p>
        </p:txBody>
      </p:sp>
    </p:spTree>
    <p:extLst>
      <p:ext uri="{BB962C8B-B14F-4D97-AF65-F5344CB8AC3E}">
        <p14:creationId xmlns:p14="http://schemas.microsoft.com/office/powerpoint/2010/main" val="663505545"/>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a:extLst>
            <a:ext uri="{FF2B5EF4-FFF2-40B4-BE49-F238E27FC236}">
              <a16:creationId xmlns:a16="http://schemas.microsoft.com/office/drawing/2014/main" id="{47F30CBE-DD53-37B4-9E5C-4DEA1B78FAB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9F1108A-8349-AFAC-624F-DC58A7C44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52DCBD-4926-E15B-F24D-CF29F80FE103}"/>
              </a:ext>
            </a:extLst>
          </p:cNvPr>
          <p:cNvSpPr>
            <a:spLocks noGrp="1"/>
          </p:cNvSpPr>
          <p:nvPr>
            <p:ph type="title"/>
          </p:nvPr>
        </p:nvSpPr>
        <p:spPr>
          <a:xfrm>
            <a:off x="3067880" y="764372"/>
            <a:ext cx="5575552" cy="1432289"/>
          </a:xfrm>
        </p:spPr>
        <p:txBody>
          <a:bodyPr>
            <a:normAutofit fontScale="90000"/>
          </a:bodyPr>
          <a:lstStyle/>
          <a:p>
            <a:pPr algn="l"/>
            <a:r>
              <a:rPr lang="en-US" dirty="0"/>
              <a:t>Elements of Incentive Agreement (continued)</a:t>
            </a:r>
          </a:p>
        </p:txBody>
      </p:sp>
      <p:sp>
        <p:nvSpPr>
          <p:cNvPr id="10" name="Rectangle 9">
            <a:extLst>
              <a:ext uri="{FF2B5EF4-FFF2-40B4-BE49-F238E27FC236}">
                <a16:creationId xmlns:a16="http://schemas.microsoft.com/office/drawing/2014/main" id="{A81DDE87-581F-A3AC-A0EF-48E49BC067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554794"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2" name="Picture 11">
            <a:extLst>
              <a:ext uri="{FF2B5EF4-FFF2-40B4-BE49-F238E27FC236}">
                <a16:creationId xmlns:a16="http://schemas.microsoft.com/office/drawing/2014/main" id="{4C6D9789-73ED-C14C-E510-CCB91A1A076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531" r="43746" b="531"/>
          <a:stretch/>
        </p:blipFill>
        <p:spPr>
          <a:xfrm rot="5400000" flipH="1" flipV="1">
            <a:off x="-1805274" y="2497932"/>
            <a:ext cx="6857999" cy="1862138"/>
          </a:xfrm>
          <a:prstGeom prst="rect">
            <a:avLst/>
          </a:prstGeom>
        </p:spPr>
      </p:pic>
      <p:sp>
        <p:nvSpPr>
          <p:cNvPr id="3" name="Content Placeholder 2">
            <a:extLst>
              <a:ext uri="{FF2B5EF4-FFF2-40B4-BE49-F238E27FC236}">
                <a16:creationId xmlns:a16="http://schemas.microsoft.com/office/drawing/2014/main" id="{326C6C1D-A322-18F8-9F44-35A293281C0A}"/>
              </a:ext>
            </a:extLst>
          </p:cNvPr>
          <p:cNvSpPr>
            <a:spLocks noGrp="1"/>
          </p:cNvSpPr>
          <p:nvPr>
            <p:ph idx="1"/>
          </p:nvPr>
        </p:nvSpPr>
        <p:spPr>
          <a:xfrm>
            <a:off x="2506457" y="2554941"/>
            <a:ext cx="5857613" cy="4077148"/>
          </a:xfrm>
        </p:spPr>
        <p:txBody>
          <a:bodyPr>
            <a:normAutofit lnSpcReduction="10000"/>
          </a:bodyPr>
          <a:lstStyle/>
          <a:p>
            <a:pPr lvl="1"/>
            <a:r>
              <a:rPr lang="en-US" sz="1800" dirty="0"/>
              <a:t>Local Review Board Members are entrusted to keep in mind the best interest of the entire affected community area of the project for the short and long term.</a:t>
            </a:r>
          </a:p>
          <a:p>
            <a:pPr marL="457200" lvl="1" indent="0">
              <a:buNone/>
            </a:pPr>
            <a:endParaRPr lang="en-US" sz="1800" dirty="0"/>
          </a:p>
          <a:p>
            <a:pPr lvl="1"/>
            <a:r>
              <a:rPr lang="en-US" sz="1800" dirty="0"/>
              <a:t>Except for an RREDY megaproject, the vote of the local review board shall be weighted in proportion to each voting member’s taxing district’s share of property taxes levied on the proposed site of the megaproject, and each taxing district's vote shall be weighted on a 100-point scale to reflect its proportionate share of the applicable property taxes.</a:t>
            </a:r>
          </a:p>
          <a:p>
            <a:r>
              <a:rPr lang="en-US" sz="2400" dirty="0">
                <a:latin typeface="Arial" panose="020B0604020202020204" pitchFamily="34" charset="0"/>
                <a:cs typeface="Arial" panose="020B0604020202020204" pitchFamily="34" charset="0"/>
              </a:rPr>
              <a:t> </a:t>
            </a:r>
          </a:p>
          <a:p>
            <a:pPr marL="0" indent="0">
              <a:buNone/>
            </a:pPr>
            <a:endParaRPr lang="en-US" sz="1200" dirty="0"/>
          </a:p>
        </p:txBody>
      </p:sp>
      <p:sp>
        <p:nvSpPr>
          <p:cNvPr id="4" name="TextBox 3">
            <a:extLst>
              <a:ext uri="{FF2B5EF4-FFF2-40B4-BE49-F238E27FC236}">
                <a16:creationId xmlns:a16="http://schemas.microsoft.com/office/drawing/2014/main" id="{C6CB638E-EA72-E067-1827-BA5F63FAB7F4}"/>
              </a:ext>
            </a:extLst>
          </p:cNvPr>
          <p:cNvSpPr txBox="1"/>
          <p:nvPr/>
        </p:nvSpPr>
        <p:spPr>
          <a:xfrm>
            <a:off x="325402" y="360381"/>
            <a:ext cx="1862139" cy="461665"/>
          </a:xfrm>
          <a:prstGeom prst="rect">
            <a:avLst/>
          </a:prstGeom>
          <a:noFill/>
        </p:spPr>
        <p:txBody>
          <a:bodyPr wrap="square" rtlCol="0">
            <a:spAutoFit/>
          </a:bodyPr>
          <a:lstStyle/>
          <a:p>
            <a:r>
              <a:rPr lang="en-US" sz="2400" dirty="0">
                <a:solidFill>
                  <a:schemeClr val="bg1"/>
                </a:solidFill>
              </a:rPr>
              <a:t>DRAFT</a:t>
            </a:r>
          </a:p>
        </p:txBody>
      </p:sp>
    </p:spTree>
    <p:extLst>
      <p:ext uri="{BB962C8B-B14F-4D97-AF65-F5344CB8AC3E}">
        <p14:creationId xmlns:p14="http://schemas.microsoft.com/office/powerpoint/2010/main" val="1194982102"/>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a:extLst>
            <a:ext uri="{FF2B5EF4-FFF2-40B4-BE49-F238E27FC236}">
              <a16:creationId xmlns:a16="http://schemas.microsoft.com/office/drawing/2014/main" id="{6C2FC8FB-447F-1475-24E7-A34A1E41018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22438CC-951C-1CEE-B89C-8B924FB09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B4D464-4C85-6A3D-F90C-84644CB7B877}"/>
              </a:ext>
            </a:extLst>
          </p:cNvPr>
          <p:cNvSpPr>
            <a:spLocks noGrp="1"/>
          </p:cNvSpPr>
          <p:nvPr>
            <p:ph type="title"/>
          </p:nvPr>
        </p:nvSpPr>
        <p:spPr>
          <a:xfrm>
            <a:off x="3067880" y="764372"/>
            <a:ext cx="5575552" cy="1432289"/>
          </a:xfrm>
        </p:spPr>
        <p:txBody>
          <a:bodyPr>
            <a:normAutofit/>
          </a:bodyPr>
          <a:lstStyle/>
          <a:p>
            <a:pPr algn="l"/>
            <a:r>
              <a:rPr lang="en-US" dirty="0"/>
              <a:t>STAR Bond District Eligibility</a:t>
            </a:r>
          </a:p>
        </p:txBody>
      </p:sp>
      <p:sp>
        <p:nvSpPr>
          <p:cNvPr id="10" name="Rectangle 9">
            <a:extLst>
              <a:ext uri="{FF2B5EF4-FFF2-40B4-BE49-F238E27FC236}">
                <a16:creationId xmlns:a16="http://schemas.microsoft.com/office/drawing/2014/main" id="{CEE989C7-1720-CA31-BB38-A4F13569C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554794"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2" name="Picture 11">
            <a:extLst>
              <a:ext uri="{FF2B5EF4-FFF2-40B4-BE49-F238E27FC236}">
                <a16:creationId xmlns:a16="http://schemas.microsoft.com/office/drawing/2014/main" id="{5CB81A0B-00FF-E5B6-56AD-4F3FABF4189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531" r="43746" b="531"/>
          <a:stretch/>
        </p:blipFill>
        <p:spPr>
          <a:xfrm rot="5400000" flipH="1" flipV="1">
            <a:off x="-1805274" y="2497932"/>
            <a:ext cx="6857999" cy="1862138"/>
          </a:xfrm>
          <a:prstGeom prst="rect">
            <a:avLst/>
          </a:prstGeom>
        </p:spPr>
      </p:pic>
      <p:sp>
        <p:nvSpPr>
          <p:cNvPr id="3" name="Content Placeholder 2">
            <a:extLst>
              <a:ext uri="{FF2B5EF4-FFF2-40B4-BE49-F238E27FC236}">
                <a16:creationId xmlns:a16="http://schemas.microsoft.com/office/drawing/2014/main" id="{4797D87D-FEC2-9415-351C-52CF3CCA245E}"/>
              </a:ext>
            </a:extLst>
          </p:cNvPr>
          <p:cNvSpPr>
            <a:spLocks noGrp="1"/>
          </p:cNvSpPr>
          <p:nvPr>
            <p:ph idx="1"/>
          </p:nvPr>
        </p:nvSpPr>
        <p:spPr>
          <a:xfrm>
            <a:off x="2506457" y="2554941"/>
            <a:ext cx="5857613" cy="4077148"/>
          </a:xfrm>
        </p:spPr>
        <p:txBody>
          <a:bodyPr>
            <a:normAutofit/>
          </a:bodyPr>
          <a:lstStyle/>
          <a:p>
            <a:pPr marL="0" indent="0">
              <a:buNone/>
            </a:pPr>
            <a:r>
              <a:rPr lang="en-US" sz="2400" dirty="0"/>
              <a:t>Megaproject Minimum Investment Ranges (in millions “M”):</a:t>
            </a:r>
          </a:p>
          <a:p>
            <a:pPr marL="0" indent="0">
              <a:buNone/>
            </a:pPr>
            <a:endParaRPr lang="en-US" sz="2400" dirty="0"/>
          </a:p>
          <a:p>
            <a:pPr marL="0" indent="0">
              <a:buNone/>
            </a:pPr>
            <a:r>
              <a:rPr lang="en-US" sz="2400" dirty="0"/>
              <a:t>$100 M - $500 M</a:t>
            </a:r>
          </a:p>
          <a:p>
            <a:pPr marL="0" indent="0">
              <a:buNone/>
            </a:pPr>
            <a:r>
              <a:rPr lang="en-US" sz="2400" dirty="0"/>
              <a:t>$500 M - $1,000 M</a:t>
            </a:r>
          </a:p>
          <a:p>
            <a:pPr marL="0" indent="0">
              <a:buNone/>
            </a:pPr>
            <a:r>
              <a:rPr lang="en-US" sz="2400" dirty="0"/>
              <a:t>$1,000 M +</a:t>
            </a:r>
          </a:p>
          <a:p>
            <a:pPr marL="0" indent="0">
              <a:buNone/>
            </a:pPr>
            <a:endParaRPr lang="en-US" sz="2400" dirty="0"/>
          </a:p>
          <a:p>
            <a:pPr marL="0" indent="0">
              <a:buNone/>
            </a:pPr>
            <a:endParaRPr lang="en-US" sz="1200" dirty="0"/>
          </a:p>
        </p:txBody>
      </p:sp>
      <p:sp>
        <p:nvSpPr>
          <p:cNvPr id="4" name="TextBox 3">
            <a:extLst>
              <a:ext uri="{FF2B5EF4-FFF2-40B4-BE49-F238E27FC236}">
                <a16:creationId xmlns:a16="http://schemas.microsoft.com/office/drawing/2014/main" id="{CBB687E9-C7A0-8B0A-7980-61DDEF8F9127}"/>
              </a:ext>
            </a:extLst>
          </p:cNvPr>
          <p:cNvSpPr txBox="1"/>
          <p:nvPr/>
        </p:nvSpPr>
        <p:spPr>
          <a:xfrm>
            <a:off x="325402" y="360381"/>
            <a:ext cx="1862139" cy="461665"/>
          </a:xfrm>
          <a:prstGeom prst="rect">
            <a:avLst/>
          </a:prstGeom>
          <a:noFill/>
        </p:spPr>
        <p:txBody>
          <a:bodyPr wrap="square" rtlCol="0">
            <a:spAutoFit/>
          </a:bodyPr>
          <a:lstStyle/>
          <a:p>
            <a:r>
              <a:rPr lang="en-US" sz="2400" dirty="0">
                <a:solidFill>
                  <a:schemeClr val="bg1"/>
                </a:solidFill>
              </a:rPr>
              <a:t>DRAFT</a:t>
            </a:r>
          </a:p>
        </p:txBody>
      </p:sp>
    </p:spTree>
    <p:extLst>
      <p:ext uri="{BB962C8B-B14F-4D97-AF65-F5344CB8AC3E}">
        <p14:creationId xmlns:p14="http://schemas.microsoft.com/office/powerpoint/2010/main" val="432767342"/>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a:extLst>
            <a:ext uri="{FF2B5EF4-FFF2-40B4-BE49-F238E27FC236}">
              <a16:creationId xmlns:a16="http://schemas.microsoft.com/office/drawing/2014/main" id="{4A15A6D1-6599-7271-6CC6-D60D6E13BEE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DFB31C-F883-1D1A-2541-6D030C142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E5CF31-9E86-6972-A825-7A9D9A9D1B6F}"/>
              </a:ext>
            </a:extLst>
          </p:cNvPr>
          <p:cNvSpPr>
            <a:spLocks noGrp="1"/>
          </p:cNvSpPr>
          <p:nvPr>
            <p:ph type="title"/>
          </p:nvPr>
        </p:nvSpPr>
        <p:spPr>
          <a:xfrm>
            <a:off x="3067880" y="764372"/>
            <a:ext cx="5575552" cy="1432289"/>
          </a:xfrm>
        </p:spPr>
        <p:txBody>
          <a:bodyPr>
            <a:normAutofit fontScale="90000"/>
          </a:bodyPr>
          <a:lstStyle/>
          <a:p>
            <a:pPr algn="l"/>
            <a:r>
              <a:rPr lang="en-US" dirty="0"/>
              <a:t>STAR Bond District Eligibility and District Termination (Years)</a:t>
            </a:r>
            <a:br>
              <a:rPr lang="en-US" dirty="0"/>
            </a:br>
            <a:endParaRPr lang="en-US" dirty="0"/>
          </a:p>
        </p:txBody>
      </p:sp>
      <p:sp>
        <p:nvSpPr>
          <p:cNvPr id="10" name="Rectangle 9">
            <a:extLst>
              <a:ext uri="{FF2B5EF4-FFF2-40B4-BE49-F238E27FC236}">
                <a16:creationId xmlns:a16="http://schemas.microsoft.com/office/drawing/2014/main" id="{D57C1300-0A77-21A1-E078-FB4A6C70F8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554794"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2" name="Picture 11">
            <a:extLst>
              <a:ext uri="{FF2B5EF4-FFF2-40B4-BE49-F238E27FC236}">
                <a16:creationId xmlns:a16="http://schemas.microsoft.com/office/drawing/2014/main" id="{71675EFF-3349-E03C-50EC-1D1C179384E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531" r="43746" b="531"/>
          <a:stretch/>
        </p:blipFill>
        <p:spPr>
          <a:xfrm rot="5400000" flipH="1" flipV="1">
            <a:off x="-1805274" y="2497932"/>
            <a:ext cx="6857999" cy="1862138"/>
          </a:xfrm>
          <a:prstGeom prst="rect">
            <a:avLst/>
          </a:prstGeom>
        </p:spPr>
      </p:pic>
      <p:sp>
        <p:nvSpPr>
          <p:cNvPr id="3" name="Content Placeholder 2">
            <a:extLst>
              <a:ext uri="{FF2B5EF4-FFF2-40B4-BE49-F238E27FC236}">
                <a16:creationId xmlns:a16="http://schemas.microsoft.com/office/drawing/2014/main" id="{F4F14C4A-0E18-3834-5FA0-F4F5E75757E9}"/>
              </a:ext>
            </a:extLst>
          </p:cNvPr>
          <p:cNvSpPr>
            <a:spLocks noGrp="1"/>
          </p:cNvSpPr>
          <p:nvPr>
            <p:ph idx="1"/>
          </p:nvPr>
        </p:nvSpPr>
        <p:spPr>
          <a:xfrm>
            <a:off x="2506457" y="2554941"/>
            <a:ext cx="5857613" cy="4077148"/>
          </a:xfrm>
        </p:spPr>
        <p:txBody>
          <a:bodyPr>
            <a:normAutofit/>
          </a:bodyPr>
          <a:lstStyle/>
          <a:p>
            <a:pPr marL="0" indent="0">
              <a:buNone/>
            </a:pPr>
            <a:r>
              <a:rPr lang="en-US" sz="2400" dirty="0"/>
              <a:t>Megaproject Minimum Investment Ranges (in millions “M”):</a:t>
            </a:r>
          </a:p>
          <a:p>
            <a:pPr marL="0" indent="0">
              <a:buNone/>
            </a:pPr>
            <a:r>
              <a:rPr lang="en-US" sz="2400" dirty="0"/>
              <a:t>				Years (*)</a:t>
            </a:r>
          </a:p>
          <a:p>
            <a:pPr marL="0" indent="0">
              <a:buNone/>
            </a:pPr>
            <a:r>
              <a:rPr lang="en-US" sz="2400" dirty="0"/>
              <a:t>$100 M - $500 M		25 - 30</a:t>
            </a:r>
          </a:p>
          <a:p>
            <a:pPr marL="0" indent="0">
              <a:buNone/>
            </a:pPr>
            <a:r>
              <a:rPr lang="en-US" sz="2400" dirty="0"/>
              <a:t>$500 M - $1,000 M		30 - 35</a:t>
            </a:r>
          </a:p>
          <a:p>
            <a:pPr marL="0" indent="0">
              <a:buNone/>
            </a:pPr>
            <a:r>
              <a:rPr lang="en-US" sz="2400" dirty="0"/>
              <a:t>$1,000 M +			40 – 45</a:t>
            </a:r>
          </a:p>
          <a:p>
            <a:pPr marL="0" indent="0">
              <a:buNone/>
            </a:pPr>
            <a:endParaRPr lang="en-US" sz="2400" dirty="0"/>
          </a:p>
          <a:p>
            <a:pPr marL="0" indent="0">
              <a:buNone/>
            </a:pPr>
            <a:r>
              <a:rPr lang="en-US" sz="1800" dirty="0"/>
              <a:t>(*) Years begin after placed in service. Higher end of range for projects requiring environmental remediation</a:t>
            </a:r>
          </a:p>
          <a:p>
            <a:pPr marL="0" indent="0">
              <a:buNone/>
            </a:pPr>
            <a:endParaRPr lang="en-US" sz="2400" dirty="0"/>
          </a:p>
          <a:p>
            <a:pPr marL="0" indent="0">
              <a:buNone/>
            </a:pPr>
            <a:endParaRPr lang="en-US" sz="1200" dirty="0"/>
          </a:p>
        </p:txBody>
      </p:sp>
      <p:sp>
        <p:nvSpPr>
          <p:cNvPr id="4" name="TextBox 3">
            <a:extLst>
              <a:ext uri="{FF2B5EF4-FFF2-40B4-BE49-F238E27FC236}">
                <a16:creationId xmlns:a16="http://schemas.microsoft.com/office/drawing/2014/main" id="{207F2D6E-1BE3-DF84-EAFB-E33BA977813D}"/>
              </a:ext>
            </a:extLst>
          </p:cNvPr>
          <p:cNvSpPr txBox="1"/>
          <p:nvPr/>
        </p:nvSpPr>
        <p:spPr>
          <a:xfrm>
            <a:off x="325402" y="360381"/>
            <a:ext cx="1862139" cy="461665"/>
          </a:xfrm>
          <a:prstGeom prst="rect">
            <a:avLst/>
          </a:prstGeom>
          <a:noFill/>
        </p:spPr>
        <p:txBody>
          <a:bodyPr wrap="square" rtlCol="0">
            <a:spAutoFit/>
          </a:bodyPr>
          <a:lstStyle/>
          <a:p>
            <a:r>
              <a:rPr lang="en-US" sz="2400" dirty="0">
                <a:solidFill>
                  <a:schemeClr val="bg1"/>
                </a:solidFill>
              </a:rPr>
              <a:t>DRAFT</a:t>
            </a:r>
          </a:p>
        </p:txBody>
      </p:sp>
    </p:spTree>
    <p:extLst>
      <p:ext uri="{BB962C8B-B14F-4D97-AF65-F5344CB8AC3E}">
        <p14:creationId xmlns:p14="http://schemas.microsoft.com/office/powerpoint/2010/main" val="969388891"/>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a:extLst>
            <a:ext uri="{FF2B5EF4-FFF2-40B4-BE49-F238E27FC236}">
              <a16:creationId xmlns:a16="http://schemas.microsoft.com/office/drawing/2014/main" id="{3A493F11-7735-EE0B-39FE-DD4AC061B21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9EE6A21-B3DE-3734-0B39-F769D681A7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B7F84E-BAA5-A5CF-F733-F122B7A51F80}"/>
              </a:ext>
            </a:extLst>
          </p:cNvPr>
          <p:cNvSpPr>
            <a:spLocks noGrp="1"/>
          </p:cNvSpPr>
          <p:nvPr>
            <p:ph type="title"/>
          </p:nvPr>
        </p:nvSpPr>
        <p:spPr>
          <a:xfrm>
            <a:off x="3067880" y="764372"/>
            <a:ext cx="5575552" cy="1432289"/>
          </a:xfrm>
        </p:spPr>
        <p:txBody>
          <a:bodyPr>
            <a:normAutofit/>
          </a:bodyPr>
          <a:lstStyle/>
          <a:p>
            <a:pPr algn="l"/>
            <a:r>
              <a:rPr lang="en-US" dirty="0"/>
              <a:t>Special STAR Bond District - RREDY</a:t>
            </a:r>
          </a:p>
        </p:txBody>
      </p:sp>
      <p:sp>
        <p:nvSpPr>
          <p:cNvPr id="10" name="Rectangle 9">
            <a:extLst>
              <a:ext uri="{FF2B5EF4-FFF2-40B4-BE49-F238E27FC236}">
                <a16:creationId xmlns:a16="http://schemas.microsoft.com/office/drawing/2014/main" id="{0758FAEB-BAE9-C175-F7B1-132C1CCC4B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554794"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2" name="Picture 11">
            <a:extLst>
              <a:ext uri="{FF2B5EF4-FFF2-40B4-BE49-F238E27FC236}">
                <a16:creationId xmlns:a16="http://schemas.microsoft.com/office/drawing/2014/main" id="{396424A2-2424-AE78-4411-7AB24055A4C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531" r="43746" b="531"/>
          <a:stretch/>
        </p:blipFill>
        <p:spPr>
          <a:xfrm rot="5400000" flipH="1" flipV="1">
            <a:off x="-1805274" y="2497932"/>
            <a:ext cx="6857999" cy="1862138"/>
          </a:xfrm>
          <a:prstGeom prst="rect">
            <a:avLst/>
          </a:prstGeom>
        </p:spPr>
      </p:pic>
      <p:sp>
        <p:nvSpPr>
          <p:cNvPr id="3" name="Content Placeholder 2">
            <a:extLst>
              <a:ext uri="{FF2B5EF4-FFF2-40B4-BE49-F238E27FC236}">
                <a16:creationId xmlns:a16="http://schemas.microsoft.com/office/drawing/2014/main" id="{653ED235-4D3A-519A-D6C9-57824AF2B5AB}"/>
              </a:ext>
            </a:extLst>
          </p:cNvPr>
          <p:cNvSpPr>
            <a:spLocks noGrp="1"/>
          </p:cNvSpPr>
          <p:nvPr>
            <p:ph idx="1"/>
          </p:nvPr>
        </p:nvSpPr>
        <p:spPr>
          <a:xfrm>
            <a:off x="2506457" y="2554941"/>
            <a:ext cx="5857613" cy="4077148"/>
          </a:xfrm>
        </p:spPr>
        <p:txBody>
          <a:bodyPr>
            <a:normAutofit/>
          </a:bodyPr>
          <a:lstStyle/>
          <a:p>
            <a:pPr marL="0" indent="0">
              <a:buNone/>
            </a:pPr>
            <a:r>
              <a:rPr lang="en-US" sz="2400" dirty="0"/>
              <a:t>Railroad Rehabilitation and Economic Development for Yards (“RREDY”) Megaproject</a:t>
            </a:r>
          </a:p>
          <a:p>
            <a:pPr marL="0" indent="0">
              <a:buNone/>
            </a:pPr>
            <a:endParaRPr lang="en-US" sz="2400" dirty="0"/>
          </a:p>
          <a:p>
            <a:pPr marL="0" indent="0">
              <a:buNone/>
            </a:pPr>
            <a:r>
              <a:rPr lang="en-US" sz="2400" dirty="0"/>
              <a:t>Minimum and additional standards:</a:t>
            </a:r>
          </a:p>
          <a:p>
            <a:pPr marL="0" indent="0">
              <a:buNone/>
            </a:pPr>
            <a:endParaRPr lang="en-US" sz="2400" dirty="0"/>
          </a:p>
          <a:p>
            <a:pPr marL="0" indent="0">
              <a:buNone/>
            </a:pPr>
            <a:r>
              <a:rPr lang="en-US" sz="2400" dirty="0"/>
              <a:t>Redevelopment of blighted or underused rail yards, tracks, facilities, and other rail infrastructure</a:t>
            </a:r>
          </a:p>
          <a:p>
            <a:pPr marL="0" indent="0">
              <a:buNone/>
            </a:pPr>
            <a:endParaRPr lang="en-US" sz="1200" dirty="0"/>
          </a:p>
        </p:txBody>
      </p:sp>
      <p:sp>
        <p:nvSpPr>
          <p:cNvPr id="4" name="TextBox 3">
            <a:extLst>
              <a:ext uri="{FF2B5EF4-FFF2-40B4-BE49-F238E27FC236}">
                <a16:creationId xmlns:a16="http://schemas.microsoft.com/office/drawing/2014/main" id="{9B51BDF7-1A86-8F86-8E57-E2AF761C545E}"/>
              </a:ext>
            </a:extLst>
          </p:cNvPr>
          <p:cNvSpPr txBox="1"/>
          <p:nvPr/>
        </p:nvSpPr>
        <p:spPr>
          <a:xfrm>
            <a:off x="325402" y="360381"/>
            <a:ext cx="1862139" cy="461665"/>
          </a:xfrm>
          <a:prstGeom prst="rect">
            <a:avLst/>
          </a:prstGeom>
          <a:noFill/>
        </p:spPr>
        <p:txBody>
          <a:bodyPr wrap="square" rtlCol="0">
            <a:spAutoFit/>
          </a:bodyPr>
          <a:lstStyle/>
          <a:p>
            <a:r>
              <a:rPr lang="en-US" sz="2400" dirty="0">
                <a:solidFill>
                  <a:schemeClr val="bg1"/>
                </a:solidFill>
              </a:rPr>
              <a:t>DRAFT</a:t>
            </a:r>
          </a:p>
        </p:txBody>
      </p:sp>
    </p:spTree>
    <p:extLst>
      <p:ext uri="{BB962C8B-B14F-4D97-AF65-F5344CB8AC3E}">
        <p14:creationId xmlns:p14="http://schemas.microsoft.com/office/powerpoint/2010/main" val="130766721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a:extLst>
            <a:ext uri="{FF2B5EF4-FFF2-40B4-BE49-F238E27FC236}">
              <a16:creationId xmlns:a16="http://schemas.microsoft.com/office/drawing/2014/main" id="{5FA63059-58BB-CB44-BCC9-A6567F14089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9FA59C-3A90-A32E-69BF-72AC193A5F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93EEA0-DAF6-978E-11D7-B59A15C47111}"/>
              </a:ext>
            </a:extLst>
          </p:cNvPr>
          <p:cNvSpPr>
            <a:spLocks noGrp="1"/>
          </p:cNvSpPr>
          <p:nvPr>
            <p:ph type="title"/>
          </p:nvPr>
        </p:nvSpPr>
        <p:spPr>
          <a:xfrm>
            <a:off x="3067880" y="764372"/>
            <a:ext cx="5575552" cy="1432289"/>
          </a:xfrm>
        </p:spPr>
        <p:txBody>
          <a:bodyPr>
            <a:normAutofit fontScale="90000"/>
          </a:bodyPr>
          <a:lstStyle/>
          <a:p>
            <a:pPr algn="l"/>
            <a:r>
              <a:rPr lang="en-US" dirty="0"/>
              <a:t>RREDY Megaproject – Assessment Freeze qualifications</a:t>
            </a:r>
          </a:p>
        </p:txBody>
      </p:sp>
      <p:sp>
        <p:nvSpPr>
          <p:cNvPr id="10" name="Rectangle 9">
            <a:extLst>
              <a:ext uri="{FF2B5EF4-FFF2-40B4-BE49-F238E27FC236}">
                <a16:creationId xmlns:a16="http://schemas.microsoft.com/office/drawing/2014/main" id="{CDF776DB-FA3E-E9B0-9DA3-D8C296FCA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554794"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2" name="Picture 11">
            <a:extLst>
              <a:ext uri="{FF2B5EF4-FFF2-40B4-BE49-F238E27FC236}">
                <a16:creationId xmlns:a16="http://schemas.microsoft.com/office/drawing/2014/main" id="{1B99A9A6-6B11-1051-4036-78FEAA79A47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531" r="43746" b="531"/>
          <a:stretch/>
        </p:blipFill>
        <p:spPr>
          <a:xfrm rot="5400000" flipH="1" flipV="1">
            <a:off x="-1805274" y="2497932"/>
            <a:ext cx="6857999" cy="1862138"/>
          </a:xfrm>
          <a:prstGeom prst="rect">
            <a:avLst/>
          </a:prstGeom>
        </p:spPr>
      </p:pic>
      <p:sp>
        <p:nvSpPr>
          <p:cNvPr id="3" name="Content Placeholder 2">
            <a:extLst>
              <a:ext uri="{FF2B5EF4-FFF2-40B4-BE49-F238E27FC236}">
                <a16:creationId xmlns:a16="http://schemas.microsoft.com/office/drawing/2014/main" id="{0827DB12-95EE-626F-E0DF-B06BAB4D7430}"/>
              </a:ext>
            </a:extLst>
          </p:cNvPr>
          <p:cNvSpPr>
            <a:spLocks noGrp="1"/>
          </p:cNvSpPr>
          <p:nvPr>
            <p:ph idx="1"/>
          </p:nvPr>
        </p:nvSpPr>
        <p:spPr>
          <a:xfrm>
            <a:off x="2506457" y="2554941"/>
            <a:ext cx="5857613" cy="4077148"/>
          </a:xfrm>
        </p:spPr>
        <p:txBody>
          <a:bodyPr>
            <a:normAutofit/>
          </a:bodyPr>
          <a:lstStyle/>
          <a:p>
            <a:r>
              <a:rPr lang="en-US" sz="1600" dirty="0"/>
              <a:t>Minimum Investment</a:t>
            </a:r>
          </a:p>
          <a:p>
            <a:r>
              <a:rPr lang="en-US" sz="1600" dirty="0"/>
              <a:t>Incentive Agreement</a:t>
            </a:r>
          </a:p>
          <a:p>
            <a:r>
              <a:rPr lang="en-US" sz="1600" dirty="0"/>
              <a:t>Project Labor Agreement</a:t>
            </a:r>
          </a:p>
          <a:p>
            <a:r>
              <a:rPr lang="en-US" sz="1600" dirty="0"/>
              <a:t>20% of Total Dollar Amount of Contracts to Minority-Owned Businesses</a:t>
            </a:r>
          </a:p>
          <a:p>
            <a:r>
              <a:rPr lang="en-US" sz="1600" dirty="0"/>
              <a:t>Reside in Municipality with 2 million population or more</a:t>
            </a:r>
          </a:p>
          <a:p>
            <a:r>
              <a:rPr lang="en-US" sz="1600" dirty="0"/>
              <a:t>Feasibility Analysis findings:</a:t>
            </a:r>
          </a:p>
          <a:p>
            <a:pPr lvl="1"/>
            <a:r>
              <a:rPr lang="en-US" sz="1600" dirty="0"/>
              <a:t>Unique opportunity for economic development </a:t>
            </a:r>
          </a:p>
          <a:p>
            <a:pPr lvl="1"/>
            <a:r>
              <a:rPr lang="en-US" sz="1600" dirty="0"/>
              <a:t>Minimum $40 billion in aggregate new tax revenues to all taxing districts over not less than 40 years</a:t>
            </a:r>
          </a:p>
          <a:p>
            <a:pPr lvl="1"/>
            <a:r>
              <a:rPr lang="en-US" sz="1600" dirty="0"/>
              <a:t>Increased regional transit ridership of at least 10,000 avg./day</a:t>
            </a:r>
          </a:p>
          <a:p>
            <a:endParaRPr lang="en-US" sz="1200" dirty="0"/>
          </a:p>
          <a:p>
            <a:pPr marL="0" indent="0">
              <a:buNone/>
            </a:pPr>
            <a:endParaRPr lang="en-US" sz="1200" dirty="0"/>
          </a:p>
        </p:txBody>
      </p:sp>
      <p:sp>
        <p:nvSpPr>
          <p:cNvPr id="4" name="TextBox 3">
            <a:extLst>
              <a:ext uri="{FF2B5EF4-FFF2-40B4-BE49-F238E27FC236}">
                <a16:creationId xmlns:a16="http://schemas.microsoft.com/office/drawing/2014/main" id="{B107A813-BA7A-D5B6-7388-ED725177E9E9}"/>
              </a:ext>
            </a:extLst>
          </p:cNvPr>
          <p:cNvSpPr txBox="1"/>
          <p:nvPr/>
        </p:nvSpPr>
        <p:spPr>
          <a:xfrm>
            <a:off x="325402" y="360381"/>
            <a:ext cx="1862139" cy="461665"/>
          </a:xfrm>
          <a:prstGeom prst="rect">
            <a:avLst/>
          </a:prstGeom>
          <a:noFill/>
        </p:spPr>
        <p:txBody>
          <a:bodyPr wrap="square" rtlCol="0">
            <a:spAutoFit/>
          </a:bodyPr>
          <a:lstStyle/>
          <a:p>
            <a:r>
              <a:rPr lang="en-US" sz="2400" dirty="0">
                <a:solidFill>
                  <a:schemeClr val="bg1"/>
                </a:solidFill>
              </a:rPr>
              <a:t>DRAFT</a:t>
            </a:r>
          </a:p>
        </p:txBody>
      </p:sp>
    </p:spTree>
    <p:extLst>
      <p:ext uri="{BB962C8B-B14F-4D97-AF65-F5344CB8AC3E}">
        <p14:creationId xmlns:p14="http://schemas.microsoft.com/office/powerpoint/2010/main" val="616302815"/>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DF6175-6834-9723-FD9C-B6C3D434E830}"/>
            </a:ext>
          </a:extLst>
        </p:cNvPr>
        <p:cNvGrpSpPr/>
        <p:nvPr/>
      </p:nvGrpSpPr>
      <p:grpSpPr>
        <a:xfrm>
          <a:off x="0" y="0"/>
          <a:ext cx="0" cy="0"/>
          <a:chOff x="0" y="0"/>
          <a:chExt cx="0" cy="0"/>
        </a:xfrm>
      </p:grpSpPr>
      <p:sp useBgFill="1">
        <p:nvSpPr>
          <p:cNvPr id="26" name="Rounded Rectangle 14">
            <a:extLst>
              <a:ext uri="{FF2B5EF4-FFF2-40B4-BE49-F238E27FC236}">
                <a16:creationId xmlns:a16="http://schemas.microsoft.com/office/drawing/2014/main" id="{6501D808-9D64-093C-BFBD-E46421C605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006" y="0"/>
            <a:ext cx="5666994" cy="6858000"/>
          </a:xfrm>
          <a:prstGeom prst="roundRect">
            <a:avLst>
              <a:gd name="adj" fmla="val 0"/>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8" name="Rectangle 27">
            <a:extLst>
              <a:ext uri="{FF2B5EF4-FFF2-40B4-BE49-F238E27FC236}">
                <a16:creationId xmlns:a16="http://schemas.microsoft.com/office/drawing/2014/main" id="{589197AD-FAEE-BD5E-8A9D-1788B407E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77006" cy="6858000"/>
          </a:xfrm>
          <a:prstGeom prst="rect">
            <a:avLst/>
          </a:prstGeom>
          <a:solidFill>
            <a:schemeClr val="tx1"/>
          </a:soli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30" name="Picture 29">
            <a:extLst>
              <a:ext uri="{FF2B5EF4-FFF2-40B4-BE49-F238E27FC236}">
                <a16:creationId xmlns:a16="http://schemas.microsoft.com/office/drawing/2014/main" id="{65430E12-2CB0-AAEE-6781-94DCA463350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1975"/>
          <a:stretch/>
        </p:blipFill>
        <p:spPr>
          <a:xfrm>
            <a:off x="0" y="0"/>
            <a:ext cx="3477006" cy="1441450"/>
          </a:xfrm>
          <a:prstGeom prst="rect">
            <a:avLst/>
          </a:prstGeom>
        </p:spPr>
      </p:pic>
      <p:sp>
        <p:nvSpPr>
          <p:cNvPr id="2" name="Title 1">
            <a:extLst>
              <a:ext uri="{FF2B5EF4-FFF2-40B4-BE49-F238E27FC236}">
                <a16:creationId xmlns:a16="http://schemas.microsoft.com/office/drawing/2014/main" id="{AD491AF1-B704-355B-D3CA-8FF06A1120C9}"/>
              </a:ext>
            </a:extLst>
          </p:cNvPr>
          <p:cNvSpPr>
            <a:spLocks noGrp="1"/>
          </p:cNvSpPr>
          <p:nvPr>
            <p:ph type="title"/>
          </p:nvPr>
        </p:nvSpPr>
        <p:spPr>
          <a:xfrm>
            <a:off x="514350" y="764373"/>
            <a:ext cx="2765562" cy="1920372"/>
          </a:xfrm>
        </p:spPr>
        <p:txBody>
          <a:bodyPr vert="horz" lIns="91440" tIns="45720" rIns="91440" bIns="45720" rtlCol="0" anchor="ctr">
            <a:normAutofit/>
          </a:bodyPr>
          <a:lstStyle/>
          <a:p>
            <a:pPr algn="l"/>
            <a:r>
              <a:rPr lang="en-US" sz="2400" kern="1200" cap="all" baseline="0">
                <a:solidFill>
                  <a:schemeClr val="bg1"/>
                </a:solidFill>
                <a:latin typeface="+mj-lt"/>
                <a:ea typeface="+mj-ea"/>
                <a:cs typeface="+mj-cs"/>
              </a:rPr>
              <a:t>Property Tax Liability without Assessment Freeze: 3 Scenarios</a:t>
            </a:r>
          </a:p>
        </p:txBody>
      </p:sp>
      <p:pic>
        <p:nvPicPr>
          <p:cNvPr id="32" name="Picture 31">
            <a:extLst>
              <a:ext uri="{FF2B5EF4-FFF2-40B4-BE49-F238E27FC236}">
                <a16:creationId xmlns:a16="http://schemas.microsoft.com/office/drawing/2014/main" id="{3CFF31BD-FE5A-610B-1718-E4CFCEB45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r="61975"/>
          <a:stretch/>
        </p:blipFill>
        <p:spPr>
          <a:xfrm>
            <a:off x="0" y="4375150"/>
            <a:ext cx="3477006" cy="2482850"/>
          </a:xfrm>
          <a:prstGeom prst="rect">
            <a:avLst/>
          </a:prstGeom>
        </p:spPr>
      </p:pic>
      <p:sp>
        <p:nvSpPr>
          <p:cNvPr id="4" name="TextBox 3">
            <a:extLst>
              <a:ext uri="{FF2B5EF4-FFF2-40B4-BE49-F238E27FC236}">
                <a16:creationId xmlns:a16="http://schemas.microsoft.com/office/drawing/2014/main" id="{442C2DB6-8CB1-4A3B-5308-88E2D72D582B}"/>
              </a:ext>
            </a:extLst>
          </p:cNvPr>
          <p:cNvSpPr txBox="1"/>
          <p:nvPr/>
        </p:nvSpPr>
        <p:spPr>
          <a:xfrm>
            <a:off x="514350" y="2821774"/>
            <a:ext cx="2765562" cy="3148329"/>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sz="1400">
                <a:solidFill>
                  <a:schemeClr val="bg1"/>
                </a:solidFill>
              </a:rPr>
              <a:t>DRAFT</a:t>
            </a:r>
          </a:p>
        </p:txBody>
      </p:sp>
      <p:pic>
        <p:nvPicPr>
          <p:cNvPr id="11" name="Content Placeholder 10">
            <a:extLst>
              <a:ext uri="{FF2B5EF4-FFF2-40B4-BE49-F238E27FC236}">
                <a16:creationId xmlns:a16="http://schemas.microsoft.com/office/drawing/2014/main" id="{D5E80E92-9669-44DF-7DEC-E52BCF91A63E}"/>
              </a:ext>
            </a:extLst>
          </p:cNvPr>
          <p:cNvPicPr>
            <a:picLocks noGrp="1" noChangeAspect="1"/>
          </p:cNvPicPr>
          <p:nvPr>
            <p:ph idx="1"/>
          </p:nvPr>
        </p:nvPicPr>
        <p:blipFill>
          <a:blip r:embed="rId5"/>
          <a:stretch>
            <a:fillRect/>
          </a:stretch>
        </p:blipFill>
        <p:spPr>
          <a:xfrm>
            <a:off x="3840437" y="1496402"/>
            <a:ext cx="4616633" cy="4070350"/>
          </a:xfrm>
          <a:prstGeom prst="rect">
            <a:avLst/>
          </a:prstGeom>
        </p:spPr>
      </p:pic>
    </p:spTree>
    <p:extLst>
      <p:ext uri="{BB962C8B-B14F-4D97-AF65-F5344CB8AC3E}">
        <p14:creationId xmlns:p14="http://schemas.microsoft.com/office/powerpoint/2010/main" val="5377424"/>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7CEA51-6AF5-3B26-FB3D-8EBD3AB57A0A}"/>
            </a:ext>
          </a:extLst>
        </p:cNvPr>
        <p:cNvGrpSpPr/>
        <p:nvPr/>
      </p:nvGrpSpPr>
      <p:grpSpPr>
        <a:xfrm>
          <a:off x="0" y="0"/>
          <a:ext cx="0" cy="0"/>
          <a:chOff x="0" y="0"/>
          <a:chExt cx="0" cy="0"/>
        </a:xfrm>
      </p:grpSpPr>
      <p:sp useBgFill="1">
        <p:nvSpPr>
          <p:cNvPr id="26" name="Rounded Rectangle 14">
            <a:extLst>
              <a:ext uri="{FF2B5EF4-FFF2-40B4-BE49-F238E27FC236}">
                <a16:creationId xmlns:a16="http://schemas.microsoft.com/office/drawing/2014/main" id="{14108C51-92DA-C65B-A73A-FC3847127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006" y="0"/>
            <a:ext cx="5666994" cy="6858000"/>
          </a:xfrm>
          <a:prstGeom prst="roundRect">
            <a:avLst>
              <a:gd name="adj" fmla="val 0"/>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8" name="Rectangle 27">
            <a:extLst>
              <a:ext uri="{FF2B5EF4-FFF2-40B4-BE49-F238E27FC236}">
                <a16:creationId xmlns:a16="http://schemas.microsoft.com/office/drawing/2014/main" id="{673399DF-87BE-C3FF-AD20-5D401F49ED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77006" cy="6858000"/>
          </a:xfrm>
          <a:prstGeom prst="rect">
            <a:avLst/>
          </a:prstGeom>
          <a:solidFill>
            <a:schemeClr val="tx1"/>
          </a:soli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30" name="Picture 29">
            <a:extLst>
              <a:ext uri="{FF2B5EF4-FFF2-40B4-BE49-F238E27FC236}">
                <a16:creationId xmlns:a16="http://schemas.microsoft.com/office/drawing/2014/main" id="{6231616A-4902-FD29-164B-F262A8F3F4E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1975"/>
          <a:stretch/>
        </p:blipFill>
        <p:spPr>
          <a:xfrm>
            <a:off x="0" y="0"/>
            <a:ext cx="3477006" cy="1441450"/>
          </a:xfrm>
          <a:prstGeom prst="rect">
            <a:avLst/>
          </a:prstGeom>
        </p:spPr>
      </p:pic>
      <p:sp>
        <p:nvSpPr>
          <p:cNvPr id="2" name="Title 1">
            <a:extLst>
              <a:ext uri="{FF2B5EF4-FFF2-40B4-BE49-F238E27FC236}">
                <a16:creationId xmlns:a16="http://schemas.microsoft.com/office/drawing/2014/main" id="{6E5A4CEB-0E9A-4E69-2137-C201842CB817}"/>
              </a:ext>
            </a:extLst>
          </p:cNvPr>
          <p:cNvSpPr>
            <a:spLocks noGrp="1"/>
          </p:cNvSpPr>
          <p:nvPr>
            <p:ph type="title"/>
          </p:nvPr>
        </p:nvSpPr>
        <p:spPr>
          <a:xfrm>
            <a:off x="514350" y="764373"/>
            <a:ext cx="2765562" cy="1920372"/>
          </a:xfrm>
        </p:spPr>
        <p:txBody>
          <a:bodyPr vert="horz" lIns="91440" tIns="45720" rIns="91440" bIns="45720" rtlCol="0" anchor="ctr">
            <a:normAutofit/>
          </a:bodyPr>
          <a:lstStyle/>
          <a:p>
            <a:pPr algn="l"/>
            <a:r>
              <a:rPr lang="en-US" sz="2400" kern="1200" cap="all" baseline="0" dirty="0">
                <a:solidFill>
                  <a:schemeClr val="bg1"/>
                </a:solidFill>
                <a:latin typeface="+mj-lt"/>
                <a:ea typeface="+mj-ea"/>
                <a:cs typeface="+mj-cs"/>
              </a:rPr>
              <a:t>Est. savings from Assessment Freeze: 3 Scenarios</a:t>
            </a:r>
          </a:p>
        </p:txBody>
      </p:sp>
      <p:pic>
        <p:nvPicPr>
          <p:cNvPr id="32" name="Picture 31">
            <a:extLst>
              <a:ext uri="{FF2B5EF4-FFF2-40B4-BE49-F238E27FC236}">
                <a16:creationId xmlns:a16="http://schemas.microsoft.com/office/drawing/2014/main" id="{569E473A-40C4-500D-ECC6-E4796151A8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r="61975"/>
          <a:stretch/>
        </p:blipFill>
        <p:spPr>
          <a:xfrm>
            <a:off x="0" y="4375150"/>
            <a:ext cx="3477006" cy="2482850"/>
          </a:xfrm>
          <a:prstGeom prst="rect">
            <a:avLst/>
          </a:prstGeom>
        </p:spPr>
      </p:pic>
      <p:sp>
        <p:nvSpPr>
          <p:cNvPr id="4" name="TextBox 3">
            <a:extLst>
              <a:ext uri="{FF2B5EF4-FFF2-40B4-BE49-F238E27FC236}">
                <a16:creationId xmlns:a16="http://schemas.microsoft.com/office/drawing/2014/main" id="{BC06E9A2-3DBF-173C-7B2B-104D1D283651}"/>
              </a:ext>
            </a:extLst>
          </p:cNvPr>
          <p:cNvSpPr txBox="1"/>
          <p:nvPr/>
        </p:nvSpPr>
        <p:spPr>
          <a:xfrm>
            <a:off x="514350" y="2821774"/>
            <a:ext cx="2765562" cy="3148329"/>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sz="1400">
                <a:solidFill>
                  <a:schemeClr val="bg1"/>
                </a:solidFill>
              </a:rPr>
              <a:t>DRAFT</a:t>
            </a:r>
          </a:p>
        </p:txBody>
      </p:sp>
      <p:pic>
        <p:nvPicPr>
          <p:cNvPr id="29" name="Content Placeholder 28">
            <a:extLst>
              <a:ext uri="{FF2B5EF4-FFF2-40B4-BE49-F238E27FC236}">
                <a16:creationId xmlns:a16="http://schemas.microsoft.com/office/drawing/2014/main" id="{8AE2A6A8-8C96-0950-F7F5-433C11D4799D}"/>
              </a:ext>
            </a:extLst>
          </p:cNvPr>
          <p:cNvPicPr>
            <a:picLocks noGrp="1" noChangeAspect="1"/>
          </p:cNvPicPr>
          <p:nvPr>
            <p:ph idx="1"/>
          </p:nvPr>
        </p:nvPicPr>
        <p:blipFill>
          <a:blip r:embed="rId5"/>
          <a:stretch>
            <a:fillRect/>
          </a:stretch>
        </p:blipFill>
        <p:spPr>
          <a:xfrm>
            <a:off x="3674100" y="1816394"/>
            <a:ext cx="5067456" cy="2821390"/>
          </a:xfrm>
          <a:prstGeom prst="rect">
            <a:avLst/>
          </a:prstGeom>
        </p:spPr>
      </p:pic>
    </p:spTree>
    <p:extLst>
      <p:ext uri="{BB962C8B-B14F-4D97-AF65-F5344CB8AC3E}">
        <p14:creationId xmlns:p14="http://schemas.microsoft.com/office/powerpoint/2010/main" val="871817694"/>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a:extLst>
            <a:ext uri="{FF2B5EF4-FFF2-40B4-BE49-F238E27FC236}">
              <a16:creationId xmlns:a16="http://schemas.microsoft.com/office/drawing/2014/main" id="{52B69742-6BD0-B4E4-FA86-19CF40D9325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4659CA-1ADF-FB43-7D35-63E122749F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05D091-6A66-4BB6-AF3C-10407EB34EC7}"/>
              </a:ext>
            </a:extLst>
          </p:cNvPr>
          <p:cNvSpPr>
            <a:spLocks noGrp="1"/>
          </p:cNvSpPr>
          <p:nvPr>
            <p:ph type="title"/>
          </p:nvPr>
        </p:nvSpPr>
        <p:spPr>
          <a:xfrm>
            <a:off x="3067880" y="764372"/>
            <a:ext cx="5575552" cy="1432289"/>
          </a:xfrm>
        </p:spPr>
        <p:txBody>
          <a:bodyPr>
            <a:normAutofit/>
          </a:bodyPr>
          <a:lstStyle/>
          <a:p>
            <a:pPr algn="l"/>
            <a:r>
              <a:rPr lang="en-US" dirty="0" err="1"/>
              <a:t>MegaProject</a:t>
            </a:r>
            <a:r>
              <a:rPr lang="en-US" dirty="0"/>
              <a:t> bill: Pros and cons</a:t>
            </a:r>
          </a:p>
        </p:txBody>
      </p:sp>
      <p:sp>
        <p:nvSpPr>
          <p:cNvPr id="10" name="Rectangle 9">
            <a:extLst>
              <a:ext uri="{FF2B5EF4-FFF2-40B4-BE49-F238E27FC236}">
                <a16:creationId xmlns:a16="http://schemas.microsoft.com/office/drawing/2014/main" id="{92ECB7B9-F9F7-6F66-AA4A-14ED25D273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554794"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2" name="Picture 11">
            <a:extLst>
              <a:ext uri="{FF2B5EF4-FFF2-40B4-BE49-F238E27FC236}">
                <a16:creationId xmlns:a16="http://schemas.microsoft.com/office/drawing/2014/main" id="{18AD644C-EACE-EAC2-EAE8-B6CA862A404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531" r="43746" b="531"/>
          <a:stretch/>
        </p:blipFill>
        <p:spPr>
          <a:xfrm rot="5400000" flipH="1" flipV="1">
            <a:off x="-1805274" y="2497932"/>
            <a:ext cx="6857999" cy="1862138"/>
          </a:xfrm>
          <a:prstGeom prst="rect">
            <a:avLst/>
          </a:prstGeom>
        </p:spPr>
      </p:pic>
      <p:sp>
        <p:nvSpPr>
          <p:cNvPr id="3" name="Content Placeholder 2">
            <a:extLst>
              <a:ext uri="{FF2B5EF4-FFF2-40B4-BE49-F238E27FC236}">
                <a16:creationId xmlns:a16="http://schemas.microsoft.com/office/drawing/2014/main" id="{8C1DBA34-9623-7FD9-F4A8-646E6567DA33}"/>
              </a:ext>
            </a:extLst>
          </p:cNvPr>
          <p:cNvSpPr>
            <a:spLocks noGrp="1"/>
          </p:cNvSpPr>
          <p:nvPr>
            <p:ph idx="1"/>
          </p:nvPr>
        </p:nvSpPr>
        <p:spPr>
          <a:xfrm>
            <a:off x="2920590" y="2196661"/>
            <a:ext cx="5857613" cy="4077148"/>
          </a:xfrm>
        </p:spPr>
        <p:txBody>
          <a:bodyPr>
            <a:normAutofit lnSpcReduction="10000"/>
          </a:bodyPr>
          <a:lstStyle/>
          <a:p>
            <a:r>
              <a:rPr lang="en-US" sz="2000" dirty="0"/>
              <a:t>Cons:</a:t>
            </a:r>
          </a:p>
          <a:p>
            <a:pPr lvl="1"/>
            <a:r>
              <a:rPr lang="en-US" sz="1800" dirty="0"/>
              <a:t>No clear funding for operational and capital costs associated with public education in Illinois</a:t>
            </a:r>
          </a:p>
          <a:p>
            <a:pPr lvl="1"/>
            <a:r>
              <a:rPr lang="en-US" sz="1800" dirty="0"/>
              <a:t>Major incentive is funded on the backs of public education’s tax base</a:t>
            </a:r>
          </a:p>
          <a:p>
            <a:r>
              <a:rPr lang="en-US" sz="2000" dirty="0"/>
              <a:t>Pros:</a:t>
            </a:r>
          </a:p>
          <a:p>
            <a:pPr lvl="1"/>
            <a:r>
              <a:rPr lang="en-US" sz="1800" dirty="0"/>
              <a:t>Due to weighted voting, in many cases, Incentive Agreements cannot be approved without approval of educational taxing districts.</a:t>
            </a:r>
          </a:p>
          <a:p>
            <a:pPr lvl="1"/>
            <a:r>
              <a:rPr lang="en-US" sz="1800" dirty="0"/>
              <a:t>Special payment is not capped and may be indexed to CPI.</a:t>
            </a:r>
          </a:p>
          <a:p>
            <a:pPr lvl="1"/>
            <a:r>
              <a:rPr lang="en-US" sz="1800" dirty="0"/>
              <a:t>Special payment may be directed </a:t>
            </a:r>
            <a:r>
              <a:rPr lang="en-US" sz="1800"/>
              <a:t>toward public education needs</a:t>
            </a:r>
            <a:endParaRPr lang="en-US" sz="1800" dirty="0"/>
          </a:p>
          <a:p>
            <a:pPr marL="0" indent="0">
              <a:buNone/>
            </a:pPr>
            <a:endParaRPr lang="en-US" sz="1200" dirty="0"/>
          </a:p>
        </p:txBody>
      </p:sp>
      <p:sp>
        <p:nvSpPr>
          <p:cNvPr id="4" name="TextBox 3">
            <a:extLst>
              <a:ext uri="{FF2B5EF4-FFF2-40B4-BE49-F238E27FC236}">
                <a16:creationId xmlns:a16="http://schemas.microsoft.com/office/drawing/2014/main" id="{32EE971A-C275-5994-0B05-F3E514499E7D}"/>
              </a:ext>
            </a:extLst>
          </p:cNvPr>
          <p:cNvSpPr txBox="1"/>
          <p:nvPr/>
        </p:nvSpPr>
        <p:spPr>
          <a:xfrm>
            <a:off x="325402" y="360381"/>
            <a:ext cx="1862139" cy="461665"/>
          </a:xfrm>
          <a:prstGeom prst="rect">
            <a:avLst/>
          </a:prstGeom>
          <a:noFill/>
        </p:spPr>
        <p:txBody>
          <a:bodyPr wrap="square" rtlCol="0">
            <a:spAutoFit/>
          </a:bodyPr>
          <a:lstStyle/>
          <a:p>
            <a:r>
              <a:rPr lang="en-US" sz="2400" dirty="0">
                <a:solidFill>
                  <a:schemeClr val="bg1"/>
                </a:solidFill>
              </a:rPr>
              <a:t>DRAFT</a:t>
            </a:r>
          </a:p>
        </p:txBody>
      </p:sp>
    </p:spTree>
    <p:extLst>
      <p:ext uri="{BB962C8B-B14F-4D97-AF65-F5344CB8AC3E}">
        <p14:creationId xmlns:p14="http://schemas.microsoft.com/office/powerpoint/2010/main" val="3346783604"/>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TM04033937[[fn=Vapor Trail]]</Template>
  <TotalTime>3129</TotalTime>
  <Words>851</Words>
  <Application>Microsoft Office PowerPoint</Application>
  <PresentationFormat>On-screen Show (4:3)</PresentationFormat>
  <Paragraphs>109</Paragraphs>
  <Slides>14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Century Gothic</vt:lpstr>
      <vt:lpstr>Vapor Trail</vt:lpstr>
      <vt:lpstr>Illinois Mega-Project Legislation </vt:lpstr>
      <vt:lpstr>Table of Contents</vt:lpstr>
      <vt:lpstr>Purpose of the Mega-Projects Bill</vt:lpstr>
      <vt:lpstr>Elements of Mega-Project</vt:lpstr>
      <vt:lpstr>Elements of Incentive Agreement</vt:lpstr>
      <vt:lpstr>Elements of Incentive Agreement (continued)</vt:lpstr>
      <vt:lpstr>Elements of Incentive Agreement (continued)</vt:lpstr>
      <vt:lpstr>STAR Bond District Eligibility</vt:lpstr>
      <vt:lpstr>STAR Bond District Eligibility and District Termination (Years) </vt:lpstr>
      <vt:lpstr>Special STAR Bond District - RREDY</vt:lpstr>
      <vt:lpstr>RREDY Megaproject – Assessment Freeze qualifications</vt:lpstr>
      <vt:lpstr>Property Tax Liability without Assessment Freeze: 3 Scenarios</vt:lpstr>
      <vt:lpstr>Est. savings from Assessment Freeze: 3 Scenarios</vt:lpstr>
      <vt:lpstr>MegaProject bill: Pros and cons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Joseph Pilewski</dc:creator>
  <cp:lastModifiedBy>Christopher Dennis Poulos</cp:lastModifiedBy>
  <cp:revision>3</cp:revision>
  <dcterms:created xsi:type="dcterms:W3CDTF">2026-04-27T19:47:06Z</dcterms:created>
  <dcterms:modified xsi:type="dcterms:W3CDTF">2026-05-01T21:32:35Z</dcterms:modified>
</cp:coreProperties>
</file>